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SIPERSU adalah sistem informasi persuratan Fakultas Teknik UM Buton. Presentasi ini menjelaskan masalah yang diselesaikan, cara kerja aplikasi untuk tiap peran, dan bagaimana keamanan serta operasionalnya dijaga. Seluruh tangkapan layar berasal dari aplikasi yang berjalan dengan data demo, bukan data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Bingkai masalah. Poin di kiri adalah tantangan umum proses persuratan manual, bukan data survei. Pesan utamanya: sistem ini menjawab empat hal, yaitu keterlacakan, ketepatan nomor, keaslian, dan jejak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fungsi inti. Pertama, e-Layanan: mahasiswa mengajukan sendiri. Kedua, persuratan staf: surat keluar dan masuk serta buku agenda. Ketiga, tanda tangan elektronik dan verifikasi. Semuanya berjalan lokal di server fakultas.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Tujuh peran. Satu akun bisa memegang lebih dari satu peran. Menu yang tampil menyesuaikan peran. Aturan yang perlu ditekankan: penandatangan harus pemegang jabatan aktif; TU dan Super Admin sengaja tidak diberi hak menandatangani supaya pemisahan tugas terjaga. Kaprodi hanya memverifikasi mahasiswa prodinya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 status utama: Diajukan, Diverifikasi, Disetujui (menunggu tanda tangan), Ditandatangani, Selesai; plus Ditolak. Tahap paraf hanya muncul bila jenis surat mengaturnya, misalnya Surat Izin Penelitian, Cuti Akademik, dan Rekomendasi Beasiswa. Jenis surat yang diatur tanpa QR dan tanpa persetujuan langsung terbit setelah TU memverifikasi.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yang disarankan: login sebagai mahasiswa, buka Pengajuan Surat, isi satu formulir, lalu buka Lacak Status. Tunjukkan bahwa data profil terisi otomatis dan berkas dibatasi PDF/JPG/PNG maksimal 2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langkah 1 dan 2 pada formulir pengajuan. Contoh yang diisi: Surat Keterangan Aktif Kuliah. Di langkah 1 data akademik pemohon terisi otomatis dari akun; mahasiswa hanya mengisi data detail surat. Di langkah 2 mahasiswa mengunggah berkas persyaratan. Seluruh data adalah data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3: ringkasan. Mahasiswa memeriksa isian dan berkas, mencentang pernyataan, lalu mengirim. Tombol Lihat Tampilan Surat membuka pratinjau surat yang sama dengan PDF; nomor masih 000 karena nomor terbit saat tanda 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pengiriman. Halaman langsung menampilkan nomor registrasi dan garis waktu: tahap 1 selesai, tahap 2 menunggu verifikasi Admin TU. Admin TU mendapat notifikasi pengajuan baru. Kelanjutannya diperagakan di slide verifikasi TU dan penandatanganan Dekan.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Tampilan Admin TU saat memverifikasi. Kotak Tindakan Anda berada di atas. Garis waktu di kanan menunjukkan tahap yang sudah dan belum terjadi. Menolak mewajibkan alasan.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Layar Dekan. Penekanan: hanya pemegang jabatan penandatangan aktif yang melihat tombol ini; Admin TU dan Super Admin tidak. Kata sandi akun diminta sebagai kontrol akses. Seluruh langkah penerbitan berada dalam satu transaksi basis data sehingga tidak ada nomor yang terbit tanpa surat.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dua bentuk. Surat ber-QR cocok untuk surat yang perlu dibuktikan keasliannya. Surat tanpa QR tetap bernomor dan PDF-nya dibuat, tetapi pengesahan dilakukan manual di luar aplikasi. Contoh PDF keduanya ada di folder documentation/contoh-surat.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pembeda: jenis surat baru bisa ditambahkan oleh TU lewat menu Format Surat tanpa menunggu programmer. Sembilan format staf dan lima format mahasiswa sudah tersedia sebagai bawaan; TU dapat menyalin dan memodifikasinya.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Simulasi surat keluar dari format Surat Undangan. TU memilih bentuk dan format, mengisi formulir, dan pratinjau surat berubah saat mengetik. Tanggal yang dipilih menampilkan tanggal Hijriah. Setelah Ajukan, surat menunggu tanda tangan pejabat; nomor lengkap disusun otomatis dari angka urut yang diketik TU dan baru resmi terbit saat tanda 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 nomor menurut Pedoman Tata Naskah Dinas UM Buton. Contoh: 007/KET/II.3.AU/UMB-06.2/F/2026. Penghitung urut berjalan per unit kerja per tahun dan hanya bertambah; nomor yang dibatalkan tidak dipakai ulang. Mode dipilih di Pengaturan, Format Nomor. Nomor agenda surat masuk memakai pola terpisah, misalnya AGD-2026/X/0004.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Surat masuk dicatat TU dengan pindaian dan nomor agenda otomatis. Pembukuan adalah buku agenda tunggal berdasarkan nomor surat; surat dari aplikasi masuk otomatis, surat lama bisa diimpor dari CSV. Penghitung nomor otomatis dapat disesuaikan agar melanjutkan nomor tertinggi dari data impor.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tanda tangan digital Ed25519, bukan enkripsi. Kunci privat hanya ada di server; kunci publik tertanam di halaman verifikasi. Hash SHA-256 PDF final disimpan sehingga petugas TU dapat mencocokkan berkas yang diserahkan. Pada Fase 1 server hanya terbuka di jaringan kampus; halaman verifikasi statis bisa dipublikasikan ke hosting gratis bila nanti QR perlu dipindai dari luar kampus. Penjelasan lengkap: documentation/cara-kerja-tanda-tangan-elektronik.md.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Anatomi tautan di QR: alamat halaman verifikasi statis, tanda pagar, payload (data surat dalam base64url), titik, lalu tanda tangan digital. Bagian setelah tanda pagar tidak pernah dikirim peramban ke server, jadi pemeriksaan terjadi di perangkat pemindai. Payload memuat nomor, perihal, nama dan jabatan penanda tangan, tanggal, hash SHA-256 isi surat, dan versi format. Peringatan penting untuk penerima: QR asli yang disalin ke surat palsu tetap lolos sebagai asli, tetapi halaman verifikasi menampilkan data surat yang sebenarnya, sehingga penerima wajib mencocokkan nomor, perihal, dan nama. Halaman statis tidak tahu apakah surat sudah dibatalkan; hanya verifikasi lengkap oleh TU yang menunjukkan status batal. Rincian: documentation/cara-kerja-tanda-tangan-elektronik.md bagian 5 sampai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lapis kontrol. Akses jaringan dibatasi di dalam aplikasi lewat daftar rentang IP yang dapat diatur (LAN_CIDRS). Tidak ada rute yang dibuka ke internet pada Fase 1. Log Aktivitas dapat dilihat Admin di Pengaturan.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Operasional sederhana: satu server Windows. Backup terenkripsi dengan checksum. Yang paling sering terlupa adalah uji pemulihan; dasbor Admin mengingatkan tiap 30 hari. Kunci tanda tangan ikut dicadangkan, dan salinan kunci harus disimpan di tempat aman terpisah. Panduan pemasangan lengkap ada di INSTALL.md.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Jujur soal cakupan. Menu Disposisi, Arsip, dan Laporan sudah dipersiapkan dalam kerangka menu tetapi belum diaktifkan. Kolom kanan adalah daftar periksa sebelum sistem dipakai sungguhan; poin pertama dan kedua paling penting karena akun contoh memakai kata sandi bawaan.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demo singkat: ajukan satu surat sebagai mahasiswa, verifikasi sebagai TU, tanda tangani sebagai Dekan, lalu pindai QR. Siapkan akun peran masing-masing sebelum presentasi dan gunakan data demo, bukan data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04D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jp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Universitas Muhammadiyah Buton">    </p:cNvPr>
          <p:cNvPicPr>
            <a:picLocks noChangeAspect="1"/>
          </p:cNvPicPr>
          <p:nvPr/>
        </p:nvPicPr>
        <p:blipFill>
          <a:blip r:embed="rId1"/>
          <a:stretch>
            <a:fillRect/>
          </a:stretch>
        </p:blipFill>
        <p:spPr>
          <a:xfrm>
            <a:off x="548640" y="640080"/>
            <a:ext cx="1005840" cy="1005840"/>
          </a:xfrm>
          <a:prstGeom prst="rect">
            <a:avLst/>
          </a:prstGeom>
        </p:spPr>
      </p:pic>
      <p:sp>
        <p:nvSpPr>
          <p:cNvPr id="3" name="Judul"/>
          <p:cNvSpPr txBox="1"/>
          <p:nvPr/>
        </p:nvSpPr>
        <p:spPr>
          <a:xfrm>
            <a:off x="548640" y="210312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SIPERSU FT-UMB</a:t>
            </a:r>
            <a:endParaRPr lang="en-US" sz="5400" dirty="0"/>
          </a:p>
        </p:txBody>
      </p:sp>
      <p:sp>
        <p:nvSpPr>
          <p:cNvPr id="4" name="Text 1"/>
          <p:cNvSpPr txBox="1"/>
          <p:nvPr/>
        </p:nvSpPr>
        <p:spPr>
          <a:xfrm>
            <a:off x="548640" y="3017520"/>
            <a:ext cx="8229600" cy="548640"/>
          </a:xfrm>
          <a:prstGeom prst="rect">
            <a:avLst/>
          </a:prstGeom>
          <a:noFill/>
          <a:ln/>
        </p:spPr>
        <p:txBody>
          <a:bodyPr wrap="square" lIns="0" tIns="0" rIns="0" bIns="0" rtlCol="0" anchor="ctr"/>
          <a:lstStyle/>
          <a:p>
            <a:pPr indent="0" marL="0">
              <a:buNone/>
            </a:pPr>
            <a:r>
              <a:rPr lang="en-US" sz="2800" dirty="0">
                <a:solidFill>
                  <a:srgbClr val="FDB913"/>
                </a:solidFill>
              </a:rPr>
              <a:t>Sistem Informasi Persuratan</a:t>
            </a:r>
            <a:endParaRPr lang="en-US" sz="2800" dirty="0"/>
          </a:p>
        </p:txBody>
      </p:sp>
      <p:sp>
        <p:nvSpPr>
          <p:cNvPr id="5" name="Text 2"/>
          <p:cNvSpPr txBox="1"/>
          <p:nvPr/>
        </p:nvSpPr>
        <p:spPr>
          <a:xfrm>
            <a:off x="548640" y="3566160"/>
            <a:ext cx="8229600" cy="457200"/>
          </a:xfrm>
          <a:prstGeom prst="rect">
            <a:avLst/>
          </a:prstGeom>
          <a:noFill/>
          <a:ln/>
        </p:spPr>
        <p:txBody>
          <a:bodyPr wrap="square" lIns="0" tIns="0" rIns="0" bIns="0" rtlCol="0" anchor="ctr"/>
          <a:lstStyle/>
          <a:p>
            <a:pPr indent="0" marL="0">
              <a:buNone/>
            </a:pPr>
            <a:r>
              <a:rPr lang="en-US" sz="2000" dirty="0">
                <a:solidFill>
                  <a:srgbClr val="FFFFFF"/>
                </a:solidFill>
              </a:rPr>
              <a:t>Fakultas Teknik Universitas Muhammadiyah Buton</a:t>
            </a:r>
            <a:endParaRPr lang="en-US" sz="2000" dirty="0"/>
          </a:p>
        </p:txBody>
      </p:sp>
      <p:sp>
        <p:nvSpPr>
          <p:cNvPr id="6" name="Text 3"/>
          <p:cNvSpPr txBox="1"/>
          <p:nvPr/>
        </p:nvSpPr>
        <p:spPr>
          <a:xfrm>
            <a:off x="548640" y="4572000"/>
            <a:ext cx="6583680" cy="822960"/>
          </a:xfrm>
          <a:prstGeom prst="rect">
            <a:avLst/>
          </a:prstGeom>
          <a:noFill/>
          <a:ln/>
        </p:spPr>
        <p:txBody>
          <a:bodyPr wrap="square" lIns="0" tIns="0" rIns="0" bIns="0" rtlCol="0" anchor="ctr"/>
          <a:lstStyle/>
          <a:p>
            <a:pPr indent="0" marL="0">
              <a:buNone/>
            </a:pPr>
            <a:r>
              <a:rPr lang="en-US" sz="1600" dirty="0">
                <a:solidFill>
                  <a:srgbClr val="CFE3D7"/>
                </a:solidFill>
              </a:rPr>
              <a:t>Pengajuan surat, surat keluar dan masuk, nomor sesuai pedoman, serta tanda tangan elektronik yang dapat diverifikasi.</a:t>
            </a:r>
            <a:endParaRPr lang="en-US" sz="1600" dirty="0"/>
          </a:p>
        </p:txBody>
      </p:sp>
      <p:sp>
        <p:nvSpPr>
          <p:cNvPr id="7" name="Text 4"/>
          <p:cNvSpPr txBox="1"/>
          <p:nvPr/>
        </p:nvSpPr>
        <p:spPr>
          <a:xfrm>
            <a:off x="548640" y="6126480"/>
            <a:ext cx="5486400" cy="320040"/>
          </a:xfrm>
          <a:prstGeom prst="rect">
            <a:avLst/>
          </a:prstGeom>
          <a:noFill/>
          <a:ln/>
        </p:spPr>
        <p:txBody>
          <a:bodyPr wrap="square" lIns="0" tIns="0" rIns="0" bIns="0" rtlCol="0" anchor="ctr"/>
          <a:lstStyle/>
          <a:p>
            <a:pPr indent="0" marL="0">
              <a:buNone/>
            </a:pPr>
            <a:r>
              <a:rPr lang="en-US" sz="1200" dirty="0">
                <a:solidFill>
                  <a:srgbClr val="CFE3D7"/>
                </a:solidFill>
              </a:rPr>
              <a:t>Bahan presentasi · Oktober 2026</a:t>
            </a:r>
            <a:endParaRPr lang="en-US" sz="1200" dirty="0"/>
          </a:p>
        </p:txBody>
      </p:sp>
      <p:pic>
        <p:nvPicPr>
          <p:cNvPr id="8" name="Image 1" descr="Dasbor SIPERSU untuk Admin TU">    </p:cNvPr>
          <p:cNvPicPr>
            <a:picLocks noChangeAspect="1"/>
          </p:cNvPicPr>
          <p:nvPr/>
        </p:nvPicPr>
        <p:blipFill>
          <a:blip r:embed="rId2"/>
          <a:stretch>
            <a:fillRect/>
          </a:stretch>
        </p:blipFill>
        <p:spPr>
          <a:xfrm>
            <a:off x="7498080" y="1234440"/>
            <a:ext cx="4297680" cy="2686050"/>
          </a:xfrm>
          <a:prstGeom prst="rect">
            <a:avLst/>
          </a:prstGeom>
          <a:effectLst>
            <a:outerShdw sx="100000" sy="100000" kx="0" ky="0" algn="bl" rotWithShape="0" blurRad="101600" dist="25400" dir="5400000">
              <a:srgbClr val="000000">
                <a:alpha val="12000"/>
              </a:srgbClr>
            </a:outerShdw>
          </a:effectLst>
        </p:spPr>
      </p:pic>
      <p:pic>
        <p:nvPicPr>
          <p:cNvPr id="9" name="Image 2" descr="Katalog pengajuan surat mahasiswa">    </p:cNvPr>
          <p:cNvPicPr>
            <a:picLocks noChangeAspect="1"/>
          </p:cNvPicPr>
          <p:nvPr/>
        </p:nvPicPr>
        <p:blipFill>
          <a:blip r:embed="rId3"/>
          <a:stretch>
            <a:fillRect/>
          </a:stretch>
        </p:blipFill>
        <p:spPr>
          <a:xfrm>
            <a:off x="8138160" y="3520440"/>
            <a:ext cx="3657600" cy="2286000"/>
          </a:xfrm>
          <a:prstGeom prst="rect">
            <a:avLst/>
          </a:prstGeom>
          <a:effectLst>
            <a:outerShdw sx="100000" sy="100000" kx="0" ky="0" algn="bl" rotWithShape="0" blurRad="101600" dist="25400" dir="5400000">
              <a:srgbClr val="000000">
                <a:alpha val="12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Persuratan manual menyulitkan semua pihak</a:t>
            </a:r>
            <a:endParaRPr lang="en-US" sz="3400" dirty="0"/>
          </a:p>
        </p:txBody>
      </p:sp>
      <p:sp>
        <p:nvSpPr>
          <p:cNvPr id="3" name="Kartu"/>
          <p:cNvSpPr/>
          <p:nvPr/>
        </p:nvSpPr>
        <p:spPr>
          <a:xfrm>
            <a:off x="548640" y="1463040"/>
            <a:ext cx="5317236" cy="4480560"/>
          </a:xfrm>
          <a:prstGeom prst="roundRect">
            <a:avLst>
              <a:gd name="adj" fmla="val 2449"/>
            </a:avLst>
          </a:prstGeom>
          <a:solidFill>
            <a:srgbClr val="F7F7F5"/>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914400" y="1691640"/>
            <a:ext cx="4585716" cy="457200"/>
          </a:xfrm>
          <a:prstGeom prst="rect">
            <a:avLst/>
          </a:prstGeom>
          <a:noFill/>
          <a:ln/>
        </p:spPr>
        <p:txBody>
          <a:bodyPr wrap="square" lIns="0" tIns="0" rIns="0" bIns="0" rtlCol="0" anchor="ctr"/>
          <a:lstStyle/>
          <a:p>
            <a:pPr indent="0" marL="0">
              <a:buNone/>
            </a:pPr>
            <a:r>
              <a:rPr lang="en-US" sz="2200" b="1" dirty="0">
                <a:solidFill>
                  <a:srgbClr val="8A3B12"/>
                </a:solidFill>
                <a:latin typeface="Cambria" pitchFamily="34" charset="0"/>
                <a:ea typeface="Cambria" pitchFamily="34" charset="-122"/>
                <a:cs typeface="Cambria" pitchFamily="34" charset="-120"/>
              </a:rPr>
              <a:t>Tantangan umum proses manual</a:t>
            </a:r>
            <a:endParaRPr lang="en-US" sz="2200" dirty="0"/>
          </a:p>
        </p:txBody>
      </p:sp>
      <p:sp>
        <p:nvSpPr>
          <p:cNvPr id="5" name="Daftar poin"/>
          <p:cNvSpPr txBox="1"/>
          <p:nvPr/>
        </p:nvSpPr>
        <p:spPr>
          <a:xfrm>
            <a:off x="914400" y="2331720"/>
            <a:ext cx="4585716" cy="338328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rgbClr val="1B2A24"/>
                </a:solidFill>
              </a:rPr>
              <a:t>Status tidak jelas. </a:t>
            </a:r>
            <a:pPr indent="0" marL="0">
              <a:buNone/>
            </a:pPr>
            <a:r>
              <a:rPr lang="en-US" sz="1700" dirty="0">
                <a:solidFill>
                  <a:srgbClr val="1B2A24"/>
                </a:solidFill>
              </a:rPr>
              <a:t>Mahasiswa harus bertanya langsung ke TU untuk tahu surat sudah sampai mana.</a:t>
            </a:r>
            <a:endParaRPr lang="en-US" sz="1700" dirty="0"/>
          </a:p>
          <a:p>
            <a:pPr marL="342900" indent="-342900">
              <a:spcAft>
                <a:spcPts val="1000"/>
              </a:spcAft>
              <a:buSzPct val="100000"/>
              <a:buChar char="•"/>
            </a:pPr>
            <a:r>
              <a:rPr lang="en-US" sz="1700" b="1" dirty="0">
                <a:solidFill>
                  <a:srgbClr val="1B2A24"/>
                </a:solidFill>
              </a:rPr>
              <a:t>Nomor rawan salah. </a:t>
            </a:r>
            <a:pPr indent="0" marL="0">
              <a:buNone/>
            </a:pPr>
            <a:r>
              <a:rPr lang="en-US" sz="1700" dirty="0">
                <a:solidFill>
                  <a:srgbClr val="1B2A24"/>
                </a:solidFill>
              </a:rPr>
              <a:t>Nomor ganda, loncat, atau tidak sesuai pedoman.</a:t>
            </a:r>
            <a:endParaRPr lang="en-US" sz="1700" dirty="0"/>
          </a:p>
          <a:p>
            <a:pPr marL="342900" indent="-342900">
              <a:spcAft>
                <a:spcPts val="1000"/>
              </a:spcAft>
              <a:buSzPct val="100000"/>
              <a:buChar char="•"/>
            </a:pPr>
            <a:r>
              <a:rPr lang="en-US" sz="1700" b="1" dirty="0">
                <a:solidFill>
                  <a:srgbClr val="1B2A24"/>
                </a:solidFill>
              </a:rPr>
              <a:t>Keaslian sulit dibuktikan. </a:t>
            </a:r>
            <a:pPr indent="0" marL="0">
              <a:buNone/>
            </a:pPr>
            <a:r>
              <a:rPr lang="en-US" sz="1700" dirty="0">
                <a:solidFill>
                  <a:srgbClr val="1B2A24"/>
                </a:solidFill>
              </a:rPr>
              <a:t>Surat cetak mudah ditiru atau diubah.</a:t>
            </a:r>
            <a:endParaRPr lang="en-US" sz="1700" dirty="0"/>
          </a:p>
          <a:p>
            <a:pPr marL="342900" indent="-342900">
              <a:spcAft>
                <a:spcPts val="1000"/>
              </a:spcAft>
              <a:buSzPct val="100000"/>
              <a:buChar char="•"/>
            </a:pPr>
            <a:r>
              <a:rPr lang="en-US" sz="1700" b="1" dirty="0">
                <a:solidFill>
                  <a:srgbClr val="1B2A24"/>
                </a:solidFill>
              </a:rPr>
              <a:t>Jejak tercecer. </a:t>
            </a:r>
            <a:pPr indent="0" marL="0">
              <a:buNone/>
            </a:pPr>
            <a:r>
              <a:rPr lang="en-US" sz="1700" dirty="0">
                <a:solidFill>
                  <a:srgbClr val="1B2A24"/>
                </a:solidFill>
              </a:rPr>
              <a:t>Siapa menyetujui kapan sulit ditelusuri; arsip tersebar.</a:t>
            </a:r>
            <a:endParaRPr lang="en-US" sz="1700" dirty="0"/>
          </a:p>
        </p:txBody>
      </p:sp>
      <p:sp>
        <p:nvSpPr>
          <p:cNvPr id="6" name="Kartu"/>
          <p:cNvSpPr/>
          <p:nvPr/>
        </p:nvSpPr>
        <p:spPr>
          <a:xfrm>
            <a:off x="6323076" y="1463040"/>
            <a:ext cx="5317236" cy="4480560"/>
          </a:xfrm>
          <a:prstGeom prst="roundRect">
            <a:avLst>
              <a:gd name="adj" fmla="val 2449"/>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688836" y="1691640"/>
            <a:ext cx="4585716" cy="457200"/>
          </a:xfrm>
          <a:prstGeom prst="rect">
            <a:avLst/>
          </a:prstGeom>
          <a:noFill/>
          <a:ln/>
        </p:spPr>
        <p:txBody>
          <a:bodyPr wrap="square" lIns="0" tIns="0" rIns="0" bIns="0" rtlCol="0" anchor="ctr"/>
          <a:lstStyle/>
          <a:p>
            <a:pPr indent="0" marL="0">
              <a:buNone/>
            </a:pPr>
            <a:r>
              <a:rPr lang="en-US" sz="2200" b="1" dirty="0">
                <a:solidFill>
                  <a:srgbClr val="004D2C"/>
                </a:solidFill>
                <a:latin typeface="Cambria" pitchFamily="34" charset="0"/>
                <a:ea typeface="Cambria" pitchFamily="34" charset="-122"/>
                <a:cs typeface="Cambria" pitchFamily="34" charset="-120"/>
              </a:rPr>
              <a:t>Dengan SIPERSU</a:t>
            </a:r>
            <a:endParaRPr lang="en-US" sz="2200" dirty="0"/>
          </a:p>
        </p:txBody>
      </p:sp>
      <p:sp>
        <p:nvSpPr>
          <p:cNvPr id="8" name="Daftar poin"/>
          <p:cNvSpPr txBox="1"/>
          <p:nvPr/>
        </p:nvSpPr>
        <p:spPr>
          <a:xfrm>
            <a:off x="6688836" y="2331720"/>
            <a:ext cx="4585716" cy="3383280"/>
          </a:xfrm>
          <a:prstGeom prst="rect">
            <a:avLst/>
          </a:prstGeom>
          <a:noFill/>
          <a:ln/>
        </p:spPr>
        <p:txBody>
          <a:bodyPr wrap="square" lIns="0" tIns="0" rIns="0" bIns="0" rtlCol="0" anchor="t"/>
          <a:lstStyle/>
          <a:p>
            <a:pPr marL="342900" indent="-342900">
              <a:spcAft>
                <a:spcPts val="1000"/>
              </a:spcAft>
              <a:buSzPct val="100000"/>
              <a:buChar char="•"/>
            </a:pPr>
            <a:r>
              <a:rPr lang="en-US" sz="1700" b="1" dirty="0">
                <a:solidFill>
                  <a:srgbClr val="1B2A24"/>
                </a:solidFill>
              </a:rPr>
              <a:t>Status terlacak. </a:t>
            </a:r>
            <a:pPr indent="0" marL="0">
              <a:buNone/>
            </a:pPr>
            <a:r>
              <a:rPr lang="en-US" sz="1700" dirty="0">
                <a:solidFill>
                  <a:srgbClr val="1B2A24"/>
                </a:solidFill>
              </a:rPr>
              <a:t>Setiap tahap tampil di garis waktu, lengkap dengan pelaksana dan waktunya.</a:t>
            </a:r>
            <a:endParaRPr lang="en-US" sz="1700" dirty="0"/>
          </a:p>
          <a:p>
            <a:pPr marL="342900" indent="-342900">
              <a:spcAft>
                <a:spcPts val="1000"/>
              </a:spcAft>
              <a:buSzPct val="100000"/>
              <a:buChar char="•"/>
            </a:pPr>
            <a:r>
              <a:rPr lang="en-US" sz="1700" b="1" dirty="0">
                <a:solidFill>
                  <a:srgbClr val="1B2A24"/>
                </a:solidFill>
              </a:rPr>
              <a:t>Nomor otomatis atau manual. </a:t>
            </a:r>
            <a:pPr indent="0" marL="0">
              <a:buNone/>
            </a:pPr>
            <a:r>
              <a:rPr lang="en-US" sz="1700" dirty="0">
                <a:solidFill>
                  <a:srgbClr val="1B2A24"/>
                </a:solidFill>
              </a:rPr>
              <a:t>Mengikuti Pedoman Tata Naskah Dinas UM Buton, tidak pernah ganda.</a:t>
            </a:r>
            <a:endParaRPr lang="en-US" sz="1700" dirty="0"/>
          </a:p>
          <a:p>
            <a:pPr marL="342900" indent="-342900">
              <a:spcAft>
                <a:spcPts val="1000"/>
              </a:spcAft>
              <a:buSzPct val="100000"/>
              <a:buChar char="•"/>
            </a:pPr>
            <a:r>
              <a:rPr lang="en-US" sz="1700" b="1" dirty="0">
                <a:solidFill>
                  <a:srgbClr val="1B2A24"/>
                </a:solidFill>
              </a:rPr>
              <a:t>Dapat diverifikasi. </a:t>
            </a:r>
            <a:pPr indent="0" marL="0">
              <a:buNone/>
            </a:pPr>
            <a:r>
              <a:rPr lang="en-US" sz="1700" dirty="0">
                <a:solidFill>
                  <a:srgbClr val="1B2A24"/>
                </a:solidFill>
              </a:rPr>
              <a:t>Surat ber-QR ditandatangani digital dan dicek lewat QR.</a:t>
            </a:r>
            <a:endParaRPr lang="en-US" sz="1700" dirty="0"/>
          </a:p>
          <a:p>
            <a:pPr marL="342900" indent="-342900">
              <a:spcAft>
                <a:spcPts val="1000"/>
              </a:spcAft>
              <a:buSzPct val="100000"/>
              <a:buChar char="•"/>
            </a:pPr>
            <a:r>
              <a:rPr lang="en-US" sz="1700" b="1" dirty="0">
                <a:solidFill>
                  <a:srgbClr val="1B2A24"/>
                </a:solidFill>
              </a:rPr>
              <a:t>Semua tercatat. </a:t>
            </a:r>
            <a:pPr indent="0" marL="0">
              <a:buNone/>
            </a:pPr>
            <a:r>
              <a:rPr lang="en-US" sz="1700" dirty="0">
                <a:solidFill>
                  <a:srgbClr val="1B2A24"/>
                </a:solidFill>
              </a:rPr>
              <a:t>Log aktivitas, riwayat persetujuan, dan buku agenda terpusat.</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Satu sistem untuk tiga kebutuhan</a:t>
            </a:r>
            <a:endParaRPr lang="en-US" sz="3400" dirty="0"/>
          </a:p>
        </p:txBody>
      </p:sp>
      <p:sp>
        <p:nvSpPr>
          <p:cNvPr id="3" name="Kartu"/>
          <p:cNvSpPr/>
          <p:nvPr/>
        </p:nvSpPr>
        <p:spPr>
          <a:xfrm>
            <a:off x="548640" y="1463040"/>
            <a:ext cx="3453384" cy="4389120"/>
          </a:xfrm>
          <a:prstGeom prst="roundRect">
            <a:avLst>
              <a:gd name="adj" fmla="val 3177"/>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Lingkar ikon"/>
          <p:cNvSpPr/>
          <p:nvPr/>
        </p:nvSpPr>
        <p:spPr>
          <a:xfrm>
            <a:off x="914400" y="1783080"/>
            <a:ext cx="822960" cy="822960"/>
          </a:xfrm>
          <a:prstGeom prst="ellipse">
            <a:avLst/>
          </a:prstGeom>
          <a:solidFill>
            <a:srgbClr val="EEF5F0"/>
          </a:solidFill>
          <a:ln w="12700">
            <a:solidFill>
              <a:srgbClr val="EEF5F0"/>
            </a:solidFill>
            <a:prstDash val="solid"/>
          </a:ln>
        </p:spPr>
      </p:sp>
      <p:pic>
        <p:nvPicPr>
          <p:cNvPr id="5" name="Image 0" descr="ikon FiBookOpen">    </p:cNvPr>
          <p:cNvPicPr>
            <a:picLocks noChangeAspect="1"/>
          </p:cNvPicPr>
          <p:nvPr/>
        </p:nvPicPr>
        <p:blipFill>
          <a:blip r:embed="rId1"/>
          <a:stretch>
            <a:fillRect/>
          </a:stretch>
        </p:blipFill>
        <p:spPr>
          <a:xfrm>
            <a:off x="1120140" y="1988820"/>
            <a:ext cx="411480" cy="411480"/>
          </a:xfrm>
          <a:prstGeom prst="rect">
            <a:avLst/>
          </a:prstGeom>
        </p:spPr>
      </p:pic>
      <p:sp>
        <p:nvSpPr>
          <p:cNvPr id="6" name="Text 3"/>
          <p:cNvSpPr txBox="1"/>
          <p:nvPr/>
        </p:nvSpPr>
        <p:spPr>
          <a:xfrm>
            <a:off x="914400" y="2788920"/>
            <a:ext cx="2721864" cy="54864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e-Layanan mahasiswa</a:t>
            </a:r>
            <a:endParaRPr lang="en-US" sz="2000" dirty="0"/>
          </a:p>
        </p:txBody>
      </p:sp>
      <p:sp>
        <p:nvSpPr>
          <p:cNvPr id="7" name="Text 4"/>
          <p:cNvSpPr txBox="1"/>
          <p:nvPr/>
        </p:nvSpPr>
        <p:spPr>
          <a:xfrm>
            <a:off x="914400" y="3429000"/>
            <a:ext cx="2721864" cy="1554480"/>
          </a:xfrm>
          <a:prstGeom prst="rect">
            <a:avLst/>
          </a:prstGeom>
          <a:noFill/>
          <a:ln/>
        </p:spPr>
        <p:txBody>
          <a:bodyPr wrap="square" lIns="0" tIns="0" rIns="0" bIns="0" rtlCol="0" anchor="t"/>
          <a:lstStyle/>
          <a:p>
            <a:pPr indent="0" marL="0">
              <a:buNone/>
            </a:pPr>
            <a:r>
              <a:rPr lang="en-US" sz="1600" dirty="0">
                <a:solidFill>
                  <a:srgbClr val="1B2A24"/>
                </a:solidFill>
              </a:rPr>
              <a:t>Ajukan surat dari layar, lacak status, unduh PDF saat terbit.</a:t>
            </a:r>
            <a:endParaRPr lang="en-US" sz="1600" dirty="0"/>
          </a:p>
        </p:txBody>
      </p:sp>
      <p:sp>
        <p:nvSpPr>
          <p:cNvPr id="8" name="Text 5"/>
          <p:cNvSpPr txBox="1"/>
          <p:nvPr/>
        </p:nvSpPr>
        <p:spPr>
          <a:xfrm>
            <a:off x="914400" y="5212080"/>
            <a:ext cx="2721864" cy="365760"/>
          </a:xfrm>
          <a:prstGeom prst="rect">
            <a:avLst/>
          </a:prstGeom>
          <a:noFill/>
          <a:ln/>
        </p:spPr>
        <p:txBody>
          <a:bodyPr wrap="square" lIns="0" tIns="0" rIns="0" bIns="0" rtlCol="0" anchor="ctr"/>
          <a:lstStyle/>
          <a:p>
            <a:pPr indent="0" marL="0">
              <a:buNone/>
            </a:pPr>
            <a:r>
              <a:rPr lang="en-US" sz="1400" b="1" dirty="0">
                <a:solidFill>
                  <a:srgbClr val="006B3C"/>
                </a:solidFill>
              </a:rPr>
              <a:t>5 jenis surat bawaan</a:t>
            </a:r>
            <a:endParaRPr lang="en-US" sz="1400" dirty="0"/>
          </a:p>
        </p:txBody>
      </p:sp>
      <p:sp>
        <p:nvSpPr>
          <p:cNvPr id="9" name="Kartu"/>
          <p:cNvSpPr/>
          <p:nvPr/>
        </p:nvSpPr>
        <p:spPr>
          <a:xfrm>
            <a:off x="4367784" y="1463040"/>
            <a:ext cx="3453384" cy="4389120"/>
          </a:xfrm>
          <a:prstGeom prst="roundRect">
            <a:avLst>
              <a:gd name="adj" fmla="val 3177"/>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0" name="Lingkar ikon"/>
          <p:cNvSpPr/>
          <p:nvPr/>
        </p:nvSpPr>
        <p:spPr>
          <a:xfrm>
            <a:off x="4733544" y="1783080"/>
            <a:ext cx="822960" cy="822960"/>
          </a:xfrm>
          <a:prstGeom prst="ellipse">
            <a:avLst/>
          </a:prstGeom>
          <a:solidFill>
            <a:srgbClr val="EEF5F0"/>
          </a:solidFill>
          <a:ln w="12700">
            <a:solidFill>
              <a:srgbClr val="EEF5F0"/>
            </a:solidFill>
            <a:prstDash val="solid"/>
          </a:ln>
        </p:spPr>
      </p:sp>
      <p:pic>
        <p:nvPicPr>
          <p:cNvPr id="11" name="Image 1" descr="ikon FiSend">    </p:cNvPr>
          <p:cNvPicPr>
            <a:picLocks noChangeAspect="1"/>
          </p:cNvPicPr>
          <p:nvPr/>
        </p:nvPicPr>
        <p:blipFill>
          <a:blip r:embed="rId2"/>
          <a:stretch>
            <a:fillRect/>
          </a:stretch>
        </p:blipFill>
        <p:spPr>
          <a:xfrm>
            <a:off x="4939284" y="1988820"/>
            <a:ext cx="411480" cy="411480"/>
          </a:xfrm>
          <a:prstGeom prst="rect">
            <a:avLst/>
          </a:prstGeom>
        </p:spPr>
      </p:pic>
      <p:sp>
        <p:nvSpPr>
          <p:cNvPr id="12" name="Text 8"/>
          <p:cNvSpPr txBox="1"/>
          <p:nvPr/>
        </p:nvSpPr>
        <p:spPr>
          <a:xfrm>
            <a:off x="4733544" y="2788920"/>
            <a:ext cx="2721864" cy="54864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Persuratan staf</a:t>
            </a:r>
            <a:endParaRPr lang="en-US" sz="2000" dirty="0"/>
          </a:p>
        </p:txBody>
      </p:sp>
      <p:sp>
        <p:nvSpPr>
          <p:cNvPr id="13" name="Text 9"/>
          <p:cNvSpPr txBox="1"/>
          <p:nvPr/>
        </p:nvSpPr>
        <p:spPr>
          <a:xfrm>
            <a:off x="4733544" y="3429000"/>
            <a:ext cx="2721864" cy="1554480"/>
          </a:xfrm>
          <a:prstGeom prst="rect">
            <a:avLst/>
          </a:prstGeom>
          <a:noFill/>
          <a:ln/>
        </p:spPr>
        <p:txBody>
          <a:bodyPr wrap="square" lIns="0" tIns="0" rIns="0" bIns="0" rtlCol="0" anchor="t"/>
          <a:lstStyle/>
          <a:p>
            <a:pPr indent="0" marL="0">
              <a:buNone/>
            </a:pPr>
            <a:r>
              <a:rPr lang="en-US" sz="1600" dirty="0">
                <a:solidFill>
                  <a:srgbClr val="1B2A24"/>
                </a:solidFill>
              </a:rPr>
              <a:t>Surat keluar dari format siap pakai, surat masuk dengan nomor agenda, serta buku agenda terpusat.</a:t>
            </a:r>
            <a:endParaRPr lang="en-US" sz="1600" dirty="0"/>
          </a:p>
        </p:txBody>
      </p:sp>
      <p:sp>
        <p:nvSpPr>
          <p:cNvPr id="14" name="Text 10"/>
          <p:cNvSpPr txBox="1"/>
          <p:nvPr/>
        </p:nvSpPr>
        <p:spPr>
          <a:xfrm>
            <a:off x="4733544" y="5212080"/>
            <a:ext cx="2721864" cy="365760"/>
          </a:xfrm>
          <a:prstGeom prst="rect">
            <a:avLst/>
          </a:prstGeom>
          <a:noFill/>
          <a:ln/>
        </p:spPr>
        <p:txBody>
          <a:bodyPr wrap="square" lIns="0" tIns="0" rIns="0" bIns="0" rtlCol="0" anchor="ctr"/>
          <a:lstStyle/>
          <a:p>
            <a:pPr indent="0" marL="0">
              <a:buNone/>
            </a:pPr>
            <a:r>
              <a:rPr lang="en-US" sz="1400" b="1" dirty="0">
                <a:solidFill>
                  <a:srgbClr val="006B3C"/>
                </a:solidFill>
              </a:rPr>
              <a:t>9 format staf, 3 jenis surat masuk</a:t>
            </a:r>
            <a:endParaRPr lang="en-US" sz="1400" dirty="0"/>
          </a:p>
        </p:txBody>
      </p:sp>
      <p:sp>
        <p:nvSpPr>
          <p:cNvPr id="15" name="Kartu"/>
          <p:cNvSpPr/>
          <p:nvPr/>
        </p:nvSpPr>
        <p:spPr>
          <a:xfrm>
            <a:off x="8186928" y="1463040"/>
            <a:ext cx="3453384" cy="4389120"/>
          </a:xfrm>
          <a:prstGeom prst="roundRect">
            <a:avLst>
              <a:gd name="adj" fmla="val 3177"/>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6" name="Lingkar ikon"/>
          <p:cNvSpPr/>
          <p:nvPr/>
        </p:nvSpPr>
        <p:spPr>
          <a:xfrm>
            <a:off x="8552688" y="1783080"/>
            <a:ext cx="822960" cy="822960"/>
          </a:xfrm>
          <a:prstGeom prst="ellipse">
            <a:avLst/>
          </a:prstGeom>
          <a:solidFill>
            <a:srgbClr val="EEF5F0"/>
          </a:solidFill>
          <a:ln w="12700">
            <a:solidFill>
              <a:srgbClr val="EEF5F0"/>
            </a:solidFill>
            <a:prstDash val="solid"/>
          </a:ln>
        </p:spPr>
      </p:sp>
      <p:pic>
        <p:nvPicPr>
          <p:cNvPr id="17" name="Image 2" descr="ikon FiShield">    </p:cNvPr>
          <p:cNvPicPr>
            <a:picLocks noChangeAspect="1"/>
          </p:cNvPicPr>
          <p:nvPr/>
        </p:nvPicPr>
        <p:blipFill>
          <a:blip r:embed="rId3"/>
          <a:stretch>
            <a:fillRect/>
          </a:stretch>
        </p:blipFill>
        <p:spPr>
          <a:xfrm>
            <a:off x="8758428" y="1988820"/>
            <a:ext cx="411480" cy="411480"/>
          </a:xfrm>
          <a:prstGeom prst="rect">
            <a:avLst/>
          </a:prstGeom>
        </p:spPr>
      </p:pic>
      <p:sp>
        <p:nvSpPr>
          <p:cNvPr id="18" name="Text 13"/>
          <p:cNvSpPr txBox="1"/>
          <p:nvPr/>
        </p:nvSpPr>
        <p:spPr>
          <a:xfrm>
            <a:off x="8552688" y="2788920"/>
            <a:ext cx="2721864" cy="54864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Tanda tangan digital</a:t>
            </a:r>
            <a:endParaRPr lang="en-US" sz="2000" dirty="0"/>
          </a:p>
        </p:txBody>
      </p:sp>
      <p:sp>
        <p:nvSpPr>
          <p:cNvPr id="19" name="Text 14"/>
          <p:cNvSpPr txBox="1"/>
          <p:nvPr/>
        </p:nvSpPr>
        <p:spPr>
          <a:xfrm>
            <a:off x="8552688" y="3429000"/>
            <a:ext cx="2721864" cy="1554480"/>
          </a:xfrm>
          <a:prstGeom prst="rect">
            <a:avLst/>
          </a:prstGeom>
          <a:noFill/>
          <a:ln/>
        </p:spPr>
        <p:txBody>
          <a:bodyPr wrap="square" lIns="0" tIns="0" rIns="0" bIns="0" rtlCol="0" anchor="t"/>
          <a:lstStyle/>
          <a:p>
            <a:pPr indent="0" marL="0">
              <a:buNone/>
            </a:pPr>
            <a:r>
              <a:rPr lang="en-US" sz="1600" dirty="0">
                <a:solidFill>
                  <a:srgbClr val="1B2A24"/>
                </a:solidFill>
              </a:rPr>
              <a:t>Tanda tangan elektronik pejabat, QR pada surat, dan halaman pemeriksa keaslian.</a:t>
            </a:r>
            <a:endParaRPr lang="en-US" sz="1600" dirty="0"/>
          </a:p>
        </p:txBody>
      </p:sp>
      <p:sp>
        <p:nvSpPr>
          <p:cNvPr id="20" name="Text 15"/>
          <p:cNvSpPr txBox="1"/>
          <p:nvPr/>
        </p:nvSpPr>
        <p:spPr>
          <a:xfrm>
            <a:off x="8552688" y="5212080"/>
            <a:ext cx="2721864" cy="365760"/>
          </a:xfrm>
          <a:prstGeom prst="rect">
            <a:avLst/>
          </a:prstGeom>
          <a:noFill/>
          <a:ln/>
        </p:spPr>
        <p:txBody>
          <a:bodyPr wrap="square" lIns="0" tIns="0" rIns="0" bIns="0" rtlCol="0" anchor="ctr"/>
          <a:lstStyle/>
          <a:p>
            <a:pPr indent="0" marL="0">
              <a:buNone/>
            </a:pPr>
            <a:r>
              <a:rPr lang="en-US" sz="1400" b="1" dirty="0">
                <a:solidFill>
                  <a:srgbClr val="006B3C"/>
                </a:solidFill>
              </a:rPr>
              <a:t>Ed25519 + SHA-256</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Tujuh peran, hak akses yang jelas</a:t>
            </a:r>
            <a:endParaRPr lang="en-US" sz="3400" dirty="0"/>
          </a:p>
        </p:txBody>
      </p:sp>
      <p:sp>
        <p:nvSpPr>
          <p:cNvPr id="3" name="Kartu"/>
          <p:cNvSpPr/>
          <p:nvPr/>
        </p:nvSpPr>
        <p:spPr>
          <a:xfrm>
            <a:off x="548640" y="146304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Lingkar ikon"/>
          <p:cNvSpPr/>
          <p:nvPr/>
        </p:nvSpPr>
        <p:spPr>
          <a:xfrm>
            <a:off x="822960" y="1719072"/>
            <a:ext cx="548640" cy="548640"/>
          </a:xfrm>
          <a:prstGeom prst="ellipse">
            <a:avLst/>
          </a:prstGeom>
          <a:solidFill>
            <a:srgbClr val="EEF5F0"/>
          </a:solidFill>
          <a:ln w="12700">
            <a:solidFill>
              <a:srgbClr val="EEF5F0"/>
            </a:solidFill>
            <a:prstDash val="solid"/>
          </a:ln>
        </p:spPr>
      </p:sp>
      <p:pic>
        <p:nvPicPr>
          <p:cNvPr id="5" name="Image 0" descr="ikon FiUser">    </p:cNvPr>
          <p:cNvPicPr>
            <a:picLocks noChangeAspect="1"/>
          </p:cNvPicPr>
          <p:nvPr/>
        </p:nvPicPr>
        <p:blipFill>
          <a:blip r:embed="rId1"/>
          <a:stretch>
            <a:fillRect/>
          </a:stretch>
        </p:blipFill>
        <p:spPr>
          <a:xfrm>
            <a:off x="960120" y="1856232"/>
            <a:ext cx="274320" cy="274320"/>
          </a:xfrm>
          <a:prstGeom prst="rect">
            <a:avLst/>
          </a:prstGeom>
        </p:spPr>
      </p:pic>
      <p:sp>
        <p:nvSpPr>
          <p:cNvPr id="6" name="Text 3"/>
          <p:cNvSpPr txBox="1"/>
          <p:nvPr/>
        </p:nvSpPr>
        <p:spPr>
          <a:xfrm>
            <a:off x="822960" y="237744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Mahasiswa</a:t>
            </a:r>
            <a:endParaRPr lang="en-US" sz="1800" dirty="0"/>
          </a:p>
        </p:txBody>
      </p:sp>
      <p:sp>
        <p:nvSpPr>
          <p:cNvPr id="7" name="Text 4"/>
          <p:cNvSpPr txBox="1"/>
          <p:nvPr/>
        </p:nvSpPr>
        <p:spPr>
          <a:xfrm>
            <a:off x="822960" y="2743200"/>
            <a:ext cx="2109978" cy="685800"/>
          </a:xfrm>
          <a:prstGeom prst="rect">
            <a:avLst/>
          </a:prstGeom>
          <a:noFill/>
          <a:ln/>
        </p:spPr>
        <p:txBody>
          <a:bodyPr wrap="square" lIns="0" tIns="0" rIns="0" bIns="0" rtlCol="0" anchor="t"/>
          <a:lstStyle/>
          <a:p>
            <a:pPr indent="0" marL="0">
              <a:buNone/>
            </a:pPr>
            <a:r>
              <a:rPr lang="en-US" sz="1400" dirty="0">
                <a:solidFill>
                  <a:srgbClr val="1B2A24"/>
                </a:solidFill>
              </a:rPr>
              <a:t>Mengajukan, melacak, mengunduh surat</a:t>
            </a:r>
            <a:endParaRPr lang="en-US" sz="1400" dirty="0"/>
          </a:p>
        </p:txBody>
      </p:sp>
      <p:sp>
        <p:nvSpPr>
          <p:cNvPr id="8" name="Kartu"/>
          <p:cNvSpPr/>
          <p:nvPr/>
        </p:nvSpPr>
        <p:spPr>
          <a:xfrm>
            <a:off x="3390138" y="146304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9" name="Lingkar ikon"/>
          <p:cNvSpPr/>
          <p:nvPr/>
        </p:nvSpPr>
        <p:spPr>
          <a:xfrm>
            <a:off x="3664458" y="1719072"/>
            <a:ext cx="548640" cy="548640"/>
          </a:xfrm>
          <a:prstGeom prst="ellipse">
            <a:avLst/>
          </a:prstGeom>
          <a:solidFill>
            <a:srgbClr val="EEF5F0"/>
          </a:solidFill>
          <a:ln w="12700">
            <a:solidFill>
              <a:srgbClr val="EEF5F0"/>
            </a:solidFill>
            <a:prstDash val="solid"/>
          </a:ln>
        </p:spPr>
      </p:sp>
      <p:pic>
        <p:nvPicPr>
          <p:cNvPr id="10" name="Image 1" descr="ikon FiEdit3">    </p:cNvPr>
          <p:cNvPicPr>
            <a:picLocks noChangeAspect="1"/>
          </p:cNvPicPr>
          <p:nvPr/>
        </p:nvPicPr>
        <p:blipFill>
          <a:blip r:embed="rId2"/>
          <a:stretch>
            <a:fillRect/>
          </a:stretch>
        </p:blipFill>
        <p:spPr>
          <a:xfrm>
            <a:off x="3801618" y="1856232"/>
            <a:ext cx="274320" cy="274320"/>
          </a:xfrm>
          <a:prstGeom prst="rect">
            <a:avLst/>
          </a:prstGeom>
        </p:spPr>
      </p:pic>
      <p:sp>
        <p:nvSpPr>
          <p:cNvPr id="11" name="Text 7"/>
          <p:cNvSpPr txBox="1"/>
          <p:nvPr/>
        </p:nvSpPr>
        <p:spPr>
          <a:xfrm>
            <a:off x="3664458" y="237744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Dosen / Tendik</a:t>
            </a:r>
            <a:endParaRPr lang="en-US" sz="1800" dirty="0"/>
          </a:p>
        </p:txBody>
      </p:sp>
      <p:sp>
        <p:nvSpPr>
          <p:cNvPr id="12" name="Text 8"/>
          <p:cNvSpPr txBox="1"/>
          <p:nvPr/>
        </p:nvSpPr>
        <p:spPr>
          <a:xfrm>
            <a:off x="3664458" y="2743200"/>
            <a:ext cx="2109978" cy="685800"/>
          </a:xfrm>
          <a:prstGeom prst="rect">
            <a:avLst/>
          </a:prstGeom>
          <a:noFill/>
          <a:ln/>
        </p:spPr>
        <p:txBody>
          <a:bodyPr wrap="square" lIns="0" tIns="0" rIns="0" bIns="0" rtlCol="0" anchor="t"/>
          <a:lstStyle/>
          <a:p>
            <a:pPr indent="0" marL="0">
              <a:buNone/>
            </a:pPr>
            <a:r>
              <a:rPr lang="en-US" sz="1400" dirty="0">
                <a:solidFill>
                  <a:srgbClr val="1B2A24"/>
                </a:solidFill>
              </a:rPr>
              <a:t>Membuat surat keluar</a:t>
            </a:r>
            <a:endParaRPr lang="en-US" sz="1400" dirty="0"/>
          </a:p>
        </p:txBody>
      </p:sp>
      <p:sp>
        <p:nvSpPr>
          <p:cNvPr id="13" name="Kartu"/>
          <p:cNvSpPr/>
          <p:nvPr/>
        </p:nvSpPr>
        <p:spPr>
          <a:xfrm>
            <a:off x="6231636" y="146304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4" name="Lingkar ikon"/>
          <p:cNvSpPr/>
          <p:nvPr/>
        </p:nvSpPr>
        <p:spPr>
          <a:xfrm>
            <a:off x="6505956" y="1719072"/>
            <a:ext cx="548640" cy="548640"/>
          </a:xfrm>
          <a:prstGeom prst="ellipse">
            <a:avLst/>
          </a:prstGeom>
          <a:solidFill>
            <a:srgbClr val="EEF5F0"/>
          </a:solidFill>
          <a:ln w="12700">
            <a:solidFill>
              <a:srgbClr val="EEF5F0"/>
            </a:solidFill>
            <a:prstDash val="solid"/>
          </a:ln>
        </p:spPr>
      </p:sp>
      <p:pic>
        <p:nvPicPr>
          <p:cNvPr id="15" name="Image 2" descr="ikon FiCheckSquare">    </p:cNvPr>
          <p:cNvPicPr>
            <a:picLocks noChangeAspect="1"/>
          </p:cNvPicPr>
          <p:nvPr/>
        </p:nvPicPr>
        <p:blipFill>
          <a:blip r:embed="rId3"/>
          <a:stretch>
            <a:fillRect/>
          </a:stretch>
        </p:blipFill>
        <p:spPr>
          <a:xfrm>
            <a:off x="6643116" y="1856232"/>
            <a:ext cx="274320" cy="274320"/>
          </a:xfrm>
          <a:prstGeom prst="rect">
            <a:avLst/>
          </a:prstGeom>
        </p:spPr>
      </p:pic>
      <p:sp>
        <p:nvSpPr>
          <p:cNvPr id="16" name="Text 11"/>
          <p:cNvSpPr txBox="1"/>
          <p:nvPr/>
        </p:nvSpPr>
        <p:spPr>
          <a:xfrm>
            <a:off x="6505956" y="237744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Kaprodi</a:t>
            </a:r>
            <a:endParaRPr lang="en-US" sz="1800" dirty="0"/>
          </a:p>
        </p:txBody>
      </p:sp>
      <p:sp>
        <p:nvSpPr>
          <p:cNvPr id="17" name="Text 12"/>
          <p:cNvSpPr txBox="1"/>
          <p:nvPr/>
        </p:nvSpPr>
        <p:spPr>
          <a:xfrm>
            <a:off x="6505956" y="2743200"/>
            <a:ext cx="2109978" cy="685800"/>
          </a:xfrm>
          <a:prstGeom prst="rect">
            <a:avLst/>
          </a:prstGeom>
          <a:noFill/>
          <a:ln/>
        </p:spPr>
        <p:txBody>
          <a:bodyPr wrap="square" lIns="0" tIns="0" rIns="0" bIns="0" rtlCol="0" anchor="t"/>
          <a:lstStyle/>
          <a:p>
            <a:pPr indent="0" marL="0">
              <a:buNone/>
            </a:pPr>
            <a:r>
              <a:rPr lang="en-US" sz="1400" dirty="0">
                <a:solidFill>
                  <a:srgbClr val="1B2A24"/>
                </a:solidFill>
              </a:rPr>
              <a:t>Memverifikasi pengajuan prodinya sendiri</a:t>
            </a:r>
            <a:endParaRPr lang="en-US" sz="1400" dirty="0"/>
          </a:p>
        </p:txBody>
      </p:sp>
      <p:sp>
        <p:nvSpPr>
          <p:cNvPr id="18" name="Kartu"/>
          <p:cNvSpPr/>
          <p:nvPr/>
        </p:nvSpPr>
        <p:spPr>
          <a:xfrm>
            <a:off x="9073134" y="146304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9" name="Lingkar ikon"/>
          <p:cNvSpPr/>
          <p:nvPr/>
        </p:nvSpPr>
        <p:spPr>
          <a:xfrm>
            <a:off x="9347454" y="1719072"/>
            <a:ext cx="548640" cy="548640"/>
          </a:xfrm>
          <a:prstGeom prst="ellipse">
            <a:avLst/>
          </a:prstGeom>
          <a:solidFill>
            <a:srgbClr val="EEF5F0"/>
          </a:solidFill>
          <a:ln w="12700">
            <a:solidFill>
              <a:srgbClr val="EEF5F0"/>
            </a:solidFill>
            <a:prstDash val="solid"/>
          </a:ln>
        </p:spPr>
      </p:sp>
      <p:pic>
        <p:nvPicPr>
          <p:cNvPr id="20" name="Image 3" descr="ikon FiCheckCircle">    </p:cNvPr>
          <p:cNvPicPr>
            <a:picLocks noChangeAspect="1"/>
          </p:cNvPicPr>
          <p:nvPr/>
        </p:nvPicPr>
        <p:blipFill>
          <a:blip r:embed="rId4"/>
          <a:stretch>
            <a:fillRect/>
          </a:stretch>
        </p:blipFill>
        <p:spPr>
          <a:xfrm>
            <a:off x="9484614" y="1856232"/>
            <a:ext cx="274320" cy="274320"/>
          </a:xfrm>
          <a:prstGeom prst="rect">
            <a:avLst/>
          </a:prstGeom>
        </p:spPr>
      </p:pic>
      <p:sp>
        <p:nvSpPr>
          <p:cNvPr id="21" name="Text 15"/>
          <p:cNvSpPr txBox="1"/>
          <p:nvPr/>
        </p:nvSpPr>
        <p:spPr>
          <a:xfrm>
            <a:off x="9347454" y="237744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Wakil Dekan</a:t>
            </a:r>
            <a:endParaRPr lang="en-US" sz="1800" dirty="0"/>
          </a:p>
        </p:txBody>
      </p:sp>
      <p:sp>
        <p:nvSpPr>
          <p:cNvPr id="22" name="Text 16"/>
          <p:cNvSpPr txBox="1"/>
          <p:nvPr/>
        </p:nvSpPr>
        <p:spPr>
          <a:xfrm>
            <a:off x="9347454" y="2743200"/>
            <a:ext cx="2109978" cy="685800"/>
          </a:xfrm>
          <a:prstGeom prst="rect">
            <a:avLst/>
          </a:prstGeom>
          <a:noFill/>
          <a:ln/>
        </p:spPr>
        <p:txBody>
          <a:bodyPr wrap="square" lIns="0" tIns="0" rIns="0" bIns="0" rtlCol="0" anchor="t"/>
          <a:lstStyle/>
          <a:p>
            <a:pPr indent="0" marL="0">
              <a:buNone/>
            </a:pPr>
            <a:r>
              <a:rPr lang="en-US" sz="1400" dirty="0">
                <a:solidFill>
                  <a:srgbClr val="1B2A24"/>
                </a:solidFill>
              </a:rPr>
              <a:t>Memaraf surat yang memerlukannya</a:t>
            </a:r>
            <a:endParaRPr lang="en-US" sz="1400" dirty="0"/>
          </a:p>
        </p:txBody>
      </p:sp>
      <p:sp>
        <p:nvSpPr>
          <p:cNvPr id="23" name="Kartu"/>
          <p:cNvSpPr/>
          <p:nvPr/>
        </p:nvSpPr>
        <p:spPr>
          <a:xfrm>
            <a:off x="548640" y="384048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4" name="Lingkar ikon"/>
          <p:cNvSpPr/>
          <p:nvPr/>
        </p:nvSpPr>
        <p:spPr>
          <a:xfrm>
            <a:off x="822960" y="4096512"/>
            <a:ext cx="548640" cy="548640"/>
          </a:xfrm>
          <a:prstGeom prst="ellipse">
            <a:avLst/>
          </a:prstGeom>
          <a:solidFill>
            <a:srgbClr val="EEF5F0"/>
          </a:solidFill>
          <a:ln w="12700">
            <a:solidFill>
              <a:srgbClr val="EEF5F0"/>
            </a:solidFill>
            <a:prstDash val="solid"/>
          </a:ln>
        </p:spPr>
      </p:sp>
      <p:pic>
        <p:nvPicPr>
          <p:cNvPr id="25" name="Image 4" descr="ikon FiAward">    </p:cNvPr>
          <p:cNvPicPr>
            <a:picLocks noChangeAspect="1"/>
          </p:cNvPicPr>
          <p:nvPr/>
        </p:nvPicPr>
        <p:blipFill>
          <a:blip r:embed="rId5"/>
          <a:stretch>
            <a:fillRect/>
          </a:stretch>
        </p:blipFill>
        <p:spPr>
          <a:xfrm>
            <a:off x="960120" y="4233672"/>
            <a:ext cx="274320" cy="274320"/>
          </a:xfrm>
          <a:prstGeom prst="rect">
            <a:avLst/>
          </a:prstGeom>
        </p:spPr>
      </p:pic>
      <p:sp>
        <p:nvSpPr>
          <p:cNvPr id="26" name="Text 19"/>
          <p:cNvSpPr txBox="1"/>
          <p:nvPr/>
        </p:nvSpPr>
        <p:spPr>
          <a:xfrm>
            <a:off x="822960" y="475488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Dekan</a:t>
            </a:r>
            <a:endParaRPr lang="en-US" sz="1800" dirty="0"/>
          </a:p>
        </p:txBody>
      </p:sp>
      <p:sp>
        <p:nvSpPr>
          <p:cNvPr id="27" name="Text 20"/>
          <p:cNvSpPr txBox="1"/>
          <p:nvPr/>
        </p:nvSpPr>
        <p:spPr>
          <a:xfrm>
            <a:off x="822960" y="5120640"/>
            <a:ext cx="2109978" cy="685800"/>
          </a:xfrm>
          <a:prstGeom prst="rect">
            <a:avLst/>
          </a:prstGeom>
          <a:noFill/>
          <a:ln/>
        </p:spPr>
        <p:txBody>
          <a:bodyPr wrap="square" lIns="0" tIns="0" rIns="0" bIns="0" rtlCol="0" anchor="t"/>
          <a:lstStyle/>
          <a:p>
            <a:pPr indent="0" marL="0">
              <a:buNone/>
            </a:pPr>
            <a:r>
              <a:rPr lang="en-US" sz="1400" dirty="0">
                <a:solidFill>
                  <a:srgbClr val="1B2A24"/>
                </a:solidFill>
              </a:rPr>
              <a:t>Menandatangani surat</a:t>
            </a:r>
            <a:endParaRPr lang="en-US" sz="1400" dirty="0"/>
          </a:p>
        </p:txBody>
      </p:sp>
      <p:sp>
        <p:nvSpPr>
          <p:cNvPr id="28" name="Kartu"/>
          <p:cNvSpPr/>
          <p:nvPr/>
        </p:nvSpPr>
        <p:spPr>
          <a:xfrm>
            <a:off x="3390138" y="384048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9" name="Lingkar ikon"/>
          <p:cNvSpPr/>
          <p:nvPr/>
        </p:nvSpPr>
        <p:spPr>
          <a:xfrm>
            <a:off x="3664458" y="4096512"/>
            <a:ext cx="548640" cy="548640"/>
          </a:xfrm>
          <a:prstGeom prst="ellipse">
            <a:avLst/>
          </a:prstGeom>
          <a:solidFill>
            <a:srgbClr val="EEF5F0"/>
          </a:solidFill>
          <a:ln w="12700">
            <a:solidFill>
              <a:srgbClr val="EEF5F0"/>
            </a:solidFill>
            <a:prstDash val="solid"/>
          </a:ln>
        </p:spPr>
      </p:sp>
      <p:pic>
        <p:nvPicPr>
          <p:cNvPr id="30" name="Image 5" descr="ikon FiClipboard">    </p:cNvPr>
          <p:cNvPicPr>
            <a:picLocks noChangeAspect="1"/>
          </p:cNvPicPr>
          <p:nvPr/>
        </p:nvPicPr>
        <p:blipFill>
          <a:blip r:embed="rId6"/>
          <a:stretch>
            <a:fillRect/>
          </a:stretch>
        </p:blipFill>
        <p:spPr>
          <a:xfrm>
            <a:off x="3801618" y="4233672"/>
            <a:ext cx="274320" cy="274320"/>
          </a:xfrm>
          <a:prstGeom prst="rect">
            <a:avLst/>
          </a:prstGeom>
        </p:spPr>
      </p:pic>
      <p:sp>
        <p:nvSpPr>
          <p:cNvPr id="31" name="Text 23"/>
          <p:cNvSpPr txBox="1"/>
          <p:nvPr/>
        </p:nvSpPr>
        <p:spPr>
          <a:xfrm>
            <a:off x="3664458" y="475488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Admin TU</a:t>
            </a:r>
            <a:endParaRPr lang="en-US" sz="1800" dirty="0"/>
          </a:p>
        </p:txBody>
      </p:sp>
      <p:sp>
        <p:nvSpPr>
          <p:cNvPr id="32" name="Text 24"/>
          <p:cNvSpPr txBox="1"/>
          <p:nvPr/>
        </p:nvSpPr>
        <p:spPr>
          <a:xfrm>
            <a:off x="3664458" y="5120640"/>
            <a:ext cx="2109978" cy="685800"/>
          </a:xfrm>
          <a:prstGeom prst="rect">
            <a:avLst/>
          </a:prstGeom>
          <a:noFill/>
          <a:ln/>
        </p:spPr>
        <p:txBody>
          <a:bodyPr wrap="square" lIns="0" tIns="0" rIns="0" bIns="0" rtlCol="0" anchor="t"/>
          <a:lstStyle/>
          <a:p>
            <a:pPr indent="0" marL="0">
              <a:buNone/>
            </a:pPr>
            <a:r>
              <a:rPr lang="en-US" sz="1400" dirty="0">
                <a:solidFill>
                  <a:srgbClr val="1B2A24"/>
                </a:solidFill>
              </a:rPr>
              <a:t>Verifikasi, nomor, surat masuk, format, master data, backup</a:t>
            </a:r>
            <a:endParaRPr lang="en-US" sz="1400" dirty="0"/>
          </a:p>
        </p:txBody>
      </p:sp>
      <p:sp>
        <p:nvSpPr>
          <p:cNvPr id="33" name="Kartu"/>
          <p:cNvSpPr/>
          <p:nvPr/>
        </p:nvSpPr>
        <p:spPr>
          <a:xfrm>
            <a:off x="6231636" y="3840480"/>
            <a:ext cx="2567178" cy="2057400"/>
          </a:xfrm>
          <a:prstGeom prst="roundRect">
            <a:avLst>
              <a:gd name="adj" fmla="val 5333"/>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34" name="Lingkar ikon"/>
          <p:cNvSpPr/>
          <p:nvPr/>
        </p:nvSpPr>
        <p:spPr>
          <a:xfrm>
            <a:off x="6505956" y="4096512"/>
            <a:ext cx="548640" cy="548640"/>
          </a:xfrm>
          <a:prstGeom prst="ellipse">
            <a:avLst/>
          </a:prstGeom>
          <a:solidFill>
            <a:srgbClr val="EEF5F0"/>
          </a:solidFill>
          <a:ln w="12700">
            <a:solidFill>
              <a:srgbClr val="EEF5F0"/>
            </a:solidFill>
            <a:prstDash val="solid"/>
          </a:ln>
        </p:spPr>
      </p:sp>
      <p:pic>
        <p:nvPicPr>
          <p:cNvPr id="35" name="Image 6" descr="ikon FiSettings">    </p:cNvPr>
          <p:cNvPicPr>
            <a:picLocks noChangeAspect="1"/>
          </p:cNvPicPr>
          <p:nvPr/>
        </p:nvPicPr>
        <p:blipFill>
          <a:blip r:embed="rId7"/>
          <a:stretch>
            <a:fillRect/>
          </a:stretch>
        </p:blipFill>
        <p:spPr>
          <a:xfrm>
            <a:off x="6643116" y="4233672"/>
            <a:ext cx="274320" cy="274320"/>
          </a:xfrm>
          <a:prstGeom prst="rect">
            <a:avLst/>
          </a:prstGeom>
        </p:spPr>
      </p:pic>
      <p:sp>
        <p:nvSpPr>
          <p:cNvPr id="36" name="Text 27"/>
          <p:cNvSpPr txBox="1"/>
          <p:nvPr/>
        </p:nvSpPr>
        <p:spPr>
          <a:xfrm>
            <a:off x="6505956" y="4754880"/>
            <a:ext cx="2109978" cy="365760"/>
          </a:xfrm>
          <a:prstGeom prst="rect">
            <a:avLst/>
          </a:prstGeom>
          <a:noFill/>
          <a:ln/>
        </p:spPr>
        <p:txBody>
          <a:bodyPr wrap="square" lIns="0" tIns="0" rIns="0" bIns="0" rtlCol="0" anchor="ctr"/>
          <a:lstStyle/>
          <a:p>
            <a:pPr indent="0" marL="0">
              <a:buNone/>
            </a:pPr>
            <a:r>
              <a:rPr lang="en-US" sz="1800" b="1" dirty="0">
                <a:solidFill>
                  <a:srgbClr val="004D2C"/>
                </a:solidFill>
                <a:latin typeface="Cambria" pitchFamily="34" charset="0"/>
                <a:ea typeface="Cambria" pitchFamily="34" charset="-122"/>
                <a:cs typeface="Cambria" pitchFamily="34" charset="-120"/>
              </a:rPr>
              <a:t>Super Admin</a:t>
            </a:r>
            <a:endParaRPr lang="en-US" sz="1800" dirty="0"/>
          </a:p>
        </p:txBody>
      </p:sp>
      <p:sp>
        <p:nvSpPr>
          <p:cNvPr id="37" name="Text 28"/>
          <p:cNvSpPr txBox="1"/>
          <p:nvPr/>
        </p:nvSpPr>
        <p:spPr>
          <a:xfrm>
            <a:off x="6505956" y="5120640"/>
            <a:ext cx="2109978" cy="685800"/>
          </a:xfrm>
          <a:prstGeom prst="rect">
            <a:avLst/>
          </a:prstGeom>
          <a:noFill/>
          <a:ln/>
        </p:spPr>
        <p:txBody>
          <a:bodyPr wrap="square" lIns="0" tIns="0" rIns="0" bIns="0" rtlCol="0" anchor="t"/>
          <a:lstStyle/>
          <a:p>
            <a:pPr indent="0" marL="0">
              <a:buNone/>
            </a:pPr>
            <a:r>
              <a:rPr lang="en-US" sz="1400" dirty="0">
                <a:solidFill>
                  <a:srgbClr val="1B2A24"/>
                </a:solidFill>
              </a:rPr>
              <a:t>Seperti Admin TU; tidak dapat menandatangani</a:t>
            </a:r>
            <a:endParaRPr lang="en-US" sz="1400" dirty="0"/>
          </a:p>
        </p:txBody>
      </p:sp>
      <p:sp>
        <p:nvSpPr>
          <p:cNvPr id="38" name="Kartu catatan"/>
          <p:cNvSpPr/>
          <p:nvPr/>
        </p:nvSpPr>
        <p:spPr>
          <a:xfrm>
            <a:off x="9073134" y="3840480"/>
            <a:ext cx="2567178" cy="2057400"/>
          </a:xfrm>
          <a:prstGeom prst="roundRect">
            <a:avLst>
              <a:gd name="adj" fmla="val 5333"/>
            </a:avLst>
          </a:prstGeom>
          <a:solidFill>
            <a:srgbClr val="004D2C"/>
          </a:solidFill>
          <a:ln w="12700">
            <a:solidFill>
              <a:srgbClr val="004D2C"/>
            </a:solidFill>
            <a:prstDash val="solid"/>
          </a:ln>
        </p:spPr>
      </p:sp>
      <p:sp>
        <p:nvSpPr>
          <p:cNvPr id="39" name="Text 30"/>
          <p:cNvSpPr txBox="1"/>
          <p:nvPr/>
        </p:nvSpPr>
        <p:spPr>
          <a:xfrm>
            <a:off x="9347454" y="4069080"/>
            <a:ext cx="2018538" cy="1600200"/>
          </a:xfrm>
          <a:prstGeom prst="rect">
            <a:avLst/>
          </a:prstGeom>
          <a:noFill/>
          <a:ln/>
        </p:spPr>
        <p:txBody>
          <a:bodyPr wrap="square" lIns="0" tIns="0" rIns="0" bIns="0" rtlCol="0" anchor="t"/>
          <a:lstStyle/>
          <a:p>
            <a:pPr indent="0" marL="0">
              <a:buNone/>
            </a:pPr>
            <a:r>
              <a:rPr lang="en-US" sz="1400" b="1" dirty="0">
                <a:solidFill>
                  <a:srgbClr val="FDB913"/>
                </a:solidFill>
              </a:rPr>
              <a:t>Aturan penting</a:t>
            </a:r>
            <a:endParaRPr lang="en-US" sz="1400" dirty="0"/>
          </a:p>
          <a:p>
            <a:pPr indent="0" marL="0">
              <a:buNone/>
            </a:pPr>
            <a:r>
              <a:rPr lang="en-US" sz="1400" dirty="0">
                <a:solidFill>
                  <a:srgbClr val="FFFFFF"/>
                </a:solidFill>
              </a:rPr>
              <a:t>Hanya pemegang jabatan penandatangan yang dapat menandatangani. Admin TU dan Super Admin tidak bisa.</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Alur pengajuan surat mahasiswa</a:t>
            </a:r>
            <a:endParaRPr lang="en-US" sz="3400" dirty="0"/>
          </a:p>
        </p:txBody>
      </p:sp>
      <p:sp>
        <p:nvSpPr>
          <p:cNvPr id="3" name="Kartu"/>
          <p:cNvSpPr/>
          <p:nvPr/>
        </p:nvSpPr>
        <p:spPr>
          <a:xfrm>
            <a:off x="548640" y="1600200"/>
            <a:ext cx="1962302" cy="2286000"/>
          </a:xfrm>
          <a:prstGeom prst="roundRect">
            <a:avLst>
              <a:gd name="adj" fmla="val 5592"/>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Nomor tahap"/>
          <p:cNvSpPr/>
          <p:nvPr/>
        </p:nvSpPr>
        <p:spPr>
          <a:xfrm>
            <a:off x="777240" y="1828800"/>
            <a:ext cx="457200" cy="457200"/>
          </a:xfrm>
          <a:prstGeom prst="ellipse">
            <a:avLst/>
          </a:prstGeom>
          <a:solidFill>
            <a:srgbClr val="006B3C"/>
          </a:solidFill>
          <a:ln w="12700">
            <a:solidFill>
              <a:srgbClr val="006B3C"/>
            </a:solidFill>
            <a:prstDash val="solid"/>
          </a:ln>
        </p:spPr>
      </p:sp>
      <p:sp>
        <p:nvSpPr>
          <p:cNvPr id="5" name="Text 3"/>
          <p:cNvSpPr txBox="1"/>
          <p:nvPr/>
        </p:nvSpPr>
        <p:spPr>
          <a:xfrm>
            <a:off x="7772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777240" y="2423160"/>
            <a:ext cx="1596542" cy="3657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Diajukan</a:t>
            </a:r>
            <a:endParaRPr lang="en-US" sz="1700" dirty="0"/>
          </a:p>
        </p:txBody>
      </p:sp>
      <p:sp>
        <p:nvSpPr>
          <p:cNvPr id="7" name="Text 5"/>
          <p:cNvSpPr txBox="1"/>
          <p:nvPr/>
        </p:nvSpPr>
        <p:spPr>
          <a:xfrm>
            <a:off x="777240" y="2816352"/>
            <a:ext cx="1596542" cy="960120"/>
          </a:xfrm>
          <a:prstGeom prst="rect">
            <a:avLst/>
          </a:prstGeom>
          <a:noFill/>
          <a:ln/>
        </p:spPr>
        <p:txBody>
          <a:bodyPr wrap="square" lIns="0" tIns="0" rIns="0" bIns="0" rtlCol="0" anchor="t"/>
          <a:lstStyle/>
          <a:p>
            <a:pPr indent="0" marL="0">
              <a:buNone/>
            </a:pPr>
            <a:r>
              <a:rPr lang="en-US" sz="1300" dirty="0">
                <a:solidFill>
                  <a:srgbClr val="1B2A24"/>
                </a:solidFill>
              </a:rPr>
              <a:t>Mahasiswa mengisi formulir dan unggah berkas</a:t>
            </a:r>
            <a:endParaRPr lang="en-US" sz="1300" dirty="0"/>
          </a:p>
        </p:txBody>
      </p:sp>
      <p:sp>
        <p:nvSpPr>
          <p:cNvPr id="8" name="Text 6"/>
          <p:cNvSpPr txBox="1"/>
          <p:nvPr/>
        </p:nvSpPr>
        <p:spPr>
          <a:xfrm>
            <a:off x="2510942" y="2468880"/>
            <a:ext cx="320040" cy="457200"/>
          </a:xfrm>
          <a:prstGeom prst="rect">
            <a:avLst/>
          </a:prstGeom>
          <a:noFill/>
          <a:ln/>
        </p:spPr>
        <p:txBody>
          <a:bodyPr wrap="square" lIns="0" tIns="0" rIns="0" bIns="0" rtlCol="0" anchor="ctr"/>
          <a:lstStyle/>
          <a:p>
            <a:pPr algn="ctr" indent="0" marL="0">
              <a:buNone/>
            </a:pPr>
            <a:r>
              <a:rPr lang="en-US" sz="2800" b="1" dirty="0">
                <a:solidFill>
                  <a:srgbClr val="006B3C"/>
                </a:solidFill>
              </a:rPr>
              <a:t>›</a:t>
            </a:r>
            <a:endParaRPr lang="en-US" sz="2800" dirty="0"/>
          </a:p>
        </p:txBody>
      </p:sp>
      <p:sp>
        <p:nvSpPr>
          <p:cNvPr id="9" name="Kartu"/>
          <p:cNvSpPr/>
          <p:nvPr/>
        </p:nvSpPr>
        <p:spPr>
          <a:xfrm>
            <a:off x="2830982" y="1600200"/>
            <a:ext cx="1962302" cy="2286000"/>
          </a:xfrm>
          <a:prstGeom prst="roundRect">
            <a:avLst>
              <a:gd name="adj" fmla="val 5592"/>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0" name="Nomor tahap"/>
          <p:cNvSpPr/>
          <p:nvPr/>
        </p:nvSpPr>
        <p:spPr>
          <a:xfrm>
            <a:off x="3059582" y="1828800"/>
            <a:ext cx="457200" cy="457200"/>
          </a:xfrm>
          <a:prstGeom prst="ellipse">
            <a:avLst/>
          </a:prstGeom>
          <a:solidFill>
            <a:srgbClr val="006B3C"/>
          </a:solidFill>
          <a:ln w="12700">
            <a:solidFill>
              <a:srgbClr val="006B3C"/>
            </a:solidFill>
            <a:prstDash val="solid"/>
          </a:ln>
        </p:spPr>
      </p:sp>
      <p:sp>
        <p:nvSpPr>
          <p:cNvPr id="11" name="Text 9"/>
          <p:cNvSpPr txBox="1"/>
          <p:nvPr/>
        </p:nvSpPr>
        <p:spPr>
          <a:xfrm>
            <a:off x="3059582"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3059582" y="2423160"/>
            <a:ext cx="1596542" cy="3657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Diverifikasi</a:t>
            </a:r>
            <a:endParaRPr lang="en-US" sz="1700" dirty="0"/>
          </a:p>
        </p:txBody>
      </p:sp>
      <p:sp>
        <p:nvSpPr>
          <p:cNvPr id="13" name="Text 11"/>
          <p:cNvSpPr txBox="1"/>
          <p:nvPr/>
        </p:nvSpPr>
        <p:spPr>
          <a:xfrm>
            <a:off x="3059582" y="2816352"/>
            <a:ext cx="1596542" cy="960120"/>
          </a:xfrm>
          <a:prstGeom prst="rect">
            <a:avLst/>
          </a:prstGeom>
          <a:noFill/>
          <a:ln/>
        </p:spPr>
        <p:txBody>
          <a:bodyPr wrap="square" lIns="0" tIns="0" rIns="0" bIns="0" rtlCol="0" anchor="t"/>
          <a:lstStyle/>
          <a:p>
            <a:pPr indent="0" marL="0">
              <a:buNone/>
            </a:pPr>
            <a:r>
              <a:rPr lang="en-US" sz="1300" dirty="0">
                <a:solidFill>
                  <a:srgbClr val="1B2A24"/>
                </a:solidFill>
              </a:rPr>
              <a:t>TU atau Kaprodi memeriksa; surat disusun otomatis</a:t>
            </a:r>
            <a:endParaRPr lang="en-US" sz="1300" dirty="0"/>
          </a:p>
        </p:txBody>
      </p:sp>
      <p:sp>
        <p:nvSpPr>
          <p:cNvPr id="14" name="Text 12"/>
          <p:cNvSpPr txBox="1"/>
          <p:nvPr/>
        </p:nvSpPr>
        <p:spPr>
          <a:xfrm>
            <a:off x="4793285" y="2468880"/>
            <a:ext cx="320040" cy="457200"/>
          </a:xfrm>
          <a:prstGeom prst="rect">
            <a:avLst/>
          </a:prstGeom>
          <a:noFill/>
          <a:ln/>
        </p:spPr>
        <p:txBody>
          <a:bodyPr wrap="square" lIns="0" tIns="0" rIns="0" bIns="0" rtlCol="0" anchor="ctr"/>
          <a:lstStyle/>
          <a:p>
            <a:pPr algn="ctr" indent="0" marL="0">
              <a:buNone/>
            </a:pPr>
            <a:r>
              <a:rPr lang="en-US" sz="2800" b="1" dirty="0">
                <a:solidFill>
                  <a:srgbClr val="006B3C"/>
                </a:solidFill>
              </a:rPr>
              <a:t>›</a:t>
            </a:r>
            <a:endParaRPr lang="en-US" sz="2800" dirty="0"/>
          </a:p>
        </p:txBody>
      </p:sp>
      <p:sp>
        <p:nvSpPr>
          <p:cNvPr id="15" name="Kartu"/>
          <p:cNvSpPr/>
          <p:nvPr/>
        </p:nvSpPr>
        <p:spPr>
          <a:xfrm>
            <a:off x="5113325" y="1600200"/>
            <a:ext cx="1962302" cy="2286000"/>
          </a:xfrm>
          <a:prstGeom prst="roundRect">
            <a:avLst>
              <a:gd name="adj" fmla="val 5592"/>
            </a:avLst>
          </a:prstGeom>
          <a:solidFill>
            <a:srgbClr val="FFF8E1"/>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6" name="Nomor tahap"/>
          <p:cNvSpPr/>
          <p:nvPr/>
        </p:nvSpPr>
        <p:spPr>
          <a:xfrm>
            <a:off x="5341925" y="1828800"/>
            <a:ext cx="457200" cy="457200"/>
          </a:xfrm>
          <a:prstGeom prst="ellipse">
            <a:avLst/>
          </a:prstGeom>
          <a:solidFill>
            <a:srgbClr val="FDB913"/>
          </a:solidFill>
          <a:ln w="12700">
            <a:solidFill>
              <a:srgbClr val="FDB913"/>
            </a:solidFill>
            <a:prstDash val="solid"/>
          </a:ln>
        </p:spPr>
      </p:sp>
      <p:sp>
        <p:nvSpPr>
          <p:cNvPr id="17" name="Text 15"/>
          <p:cNvSpPr txBox="1"/>
          <p:nvPr/>
        </p:nvSpPr>
        <p:spPr>
          <a:xfrm>
            <a:off x="5341925" y="1828800"/>
            <a:ext cx="457200" cy="457200"/>
          </a:xfrm>
          <a:prstGeom prst="rect">
            <a:avLst/>
          </a:prstGeom>
          <a:noFill/>
          <a:ln/>
        </p:spPr>
        <p:txBody>
          <a:bodyPr wrap="square" lIns="0" tIns="0" rIns="0" bIns="0" rtlCol="0" anchor="ctr"/>
          <a:lstStyle/>
          <a:p>
            <a:pPr algn="ctr" indent="0" marL="0">
              <a:buNone/>
            </a:pPr>
            <a:r>
              <a:rPr lang="en-US" sz="1600" b="1" dirty="0">
                <a:solidFill>
                  <a:srgbClr val="1B2A24"/>
                </a:solidFill>
              </a:rPr>
              <a:t>3</a:t>
            </a:r>
            <a:endParaRPr lang="en-US" sz="1600" dirty="0"/>
          </a:p>
        </p:txBody>
      </p:sp>
      <p:sp>
        <p:nvSpPr>
          <p:cNvPr id="18" name="Text 16"/>
          <p:cNvSpPr txBox="1"/>
          <p:nvPr/>
        </p:nvSpPr>
        <p:spPr>
          <a:xfrm>
            <a:off x="5341925" y="2423160"/>
            <a:ext cx="1596542" cy="3657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Paraf</a:t>
            </a:r>
            <a:endParaRPr lang="en-US" sz="1700" dirty="0"/>
          </a:p>
        </p:txBody>
      </p:sp>
      <p:sp>
        <p:nvSpPr>
          <p:cNvPr id="19" name="Text 17"/>
          <p:cNvSpPr txBox="1"/>
          <p:nvPr/>
        </p:nvSpPr>
        <p:spPr>
          <a:xfrm>
            <a:off x="5341925" y="2816352"/>
            <a:ext cx="1596542" cy="960120"/>
          </a:xfrm>
          <a:prstGeom prst="rect">
            <a:avLst/>
          </a:prstGeom>
          <a:noFill/>
          <a:ln/>
        </p:spPr>
        <p:txBody>
          <a:bodyPr wrap="square" lIns="0" tIns="0" rIns="0" bIns="0" rtlCol="0" anchor="t"/>
          <a:lstStyle/>
          <a:p>
            <a:pPr indent="0" marL="0">
              <a:buNone/>
            </a:pPr>
            <a:r>
              <a:rPr lang="en-US" sz="1300" dirty="0">
                <a:solidFill>
                  <a:srgbClr val="1B2A24"/>
                </a:solidFill>
              </a:rPr>
              <a:t>Wakil Dekan, hanya untuk jenis surat yang memerlukan</a:t>
            </a:r>
            <a:endParaRPr lang="en-US" sz="1300" dirty="0"/>
          </a:p>
        </p:txBody>
      </p:sp>
      <p:sp>
        <p:nvSpPr>
          <p:cNvPr id="20" name="Text 18"/>
          <p:cNvSpPr txBox="1"/>
          <p:nvPr/>
        </p:nvSpPr>
        <p:spPr>
          <a:xfrm>
            <a:off x="7075627" y="2468880"/>
            <a:ext cx="320040" cy="457200"/>
          </a:xfrm>
          <a:prstGeom prst="rect">
            <a:avLst/>
          </a:prstGeom>
          <a:noFill/>
          <a:ln/>
        </p:spPr>
        <p:txBody>
          <a:bodyPr wrap="square" lIns="0" tIns="0" rIns="0" bIns="0" rtlCol="0" anchor="ctr"/>
          <a:lstStyle/>
          <a:p>
            <a:pPr algn="ctr" indent="0" marL="0">
              <a:buNone/>
            </a:pPr>
            <a:r>
              <a:rPr lang="en-US" sz="2800" b="1" dirty="0">
                <a:solidFill>
                  <a:srgbClr val="006B3C"/>
                </a:solidFill>
              </a:rPr>
              <a:t>›</a:t>
            </a:r>
            <a:endParaRPr lang="en-US" sz="2800" dirty="0"/>
          </a:p>
        </p:txBody>
      </p:sp>
      <p:sp>
        <p:nvSpPr>
          <p:cNvPr id="21" name="Kartu"/>
          <p:cNvSpPr/>
          <p:nvPr/>
        </p:nvSpPr>
        <p:spPr>
          <a:xfrm>
            <a:off x="7395667" y="1600200"/>
            <a:ext cx="1962302" cy="2286000"/>
          </a:xfrm>
          <a:prstGeom prst="roundRect">
            <a:avLst>
              <a:gd name="adj" fmla="val 5592"/>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2" name="Nomor tahap"/>
          <p:cNvSpPr/>
          <p:nvPr/>
        </p:nvSpPr>
        <p:spPr>
          <a:xfrm>
            <a:off x="7624267" y="1828800"/>
            <a:ext cx="457200" cy="457200"/>
          </a:xfrm>
          <a:prstGeom prst="ellipse">
            <a:avLst/>
          </a:prstGeom>
          <a:solidFill>
            <a:srgbClr val="006B3C"/>
          </a:solidFill>
          <a:ln w="12700">
            <a:solidFill>
              <a:srgbClr val="006B3C"/>
            </a:solidFill>
            <a:prstDash val="solid"/>
          </a:ln>
        </p:spPr>
      </p:sp>
      <p:sp>
        <p:nvSpPr>
          <p:cNvPr id="23" name="Text 21"/>
          <p:cNvSpPr txBox="1"/>
          <p:nvPr/>
        </p:nvSpPr>
        <p:spPr>
          <a:xfrm>
            <a:off x="7624267"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4" name="Text 22"/>
          <p:cNvSpPr txBox="1"/>
          <p:nvPr/>
        </p:nvSpPr>
        <p:spPr>
          <a:xfrm>
            <a:off x="7624267" y="2423160"/>
            <a:ext cx="1596542" cy="3657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Ditandatangani</a:t>
            </a:r>
            <a:endParaRPr lang="en-US" sz="1700" dirty="0"/>
          </a:p>
        </p:txBody>
      </p:sp>
      <p:sp>
        <p:nvSpPr>
          <p:cNvPr id="25" name="Text 23"/>
          <p:cNvSpPr txBox="1"/>
          <p:nvPr/>
        </p:nvSpPr>
        <p:spPr>
          <a:xfrm>
            <a:off x="7624267" y="2816352"/>
            <a:ext cx="1596542" cy="960120"/>
          </a:xfrm>
          <a:prstGeom prst="rect">
            <a:avLst/>
          </a:prstGeom>
          <a:noFill/>
          <a:ln/>
        </p:spPr>
        <p:txBody>
          <a:bodyPr wrap="square" lIns="0" tIns="0" rIns="0" bIns="0" rtlCol="0" anchor="t"/>
          <a:lstStyle/>
          <a:p>
            <a:pPr indent="0" marL="0">
              <a:buNone/>
            </a:pPr>
            <a:r>
              <a:rPr lang="en-US" sz="1300" dirty="0">
                <a:solidFill>
                  <a:srgbClr val="1B2A24"/>
                </a:solidFill>
              </a:rPr>
              <a:t>Dekan menandatangani; nomor dan PDF terbit</a:t>
            </a:r>
            <a:endParaRPr lang="en-US" sz="1300" dirty="0"/>
          </a:p>
        </p:txBody>
      </p:sp>
      <p:sp>
        <p:nvSpPr>
          <p:cNvPr id="26" name="Text 24"/>
          <p:cNvSpPr txBox="1"/>
          <p:nvPr/>
        </p:nvSpPr>
        <p:spPr>
          <a:xfrm>
            <a:off x="9357970" y="2468880"/>
            <a:ext cx="320040" cy="457200"/>
          </a:xfrm>
          <a:prstGeom prst="rect">
            <a:avLst/>
          </a:prstGeom>
          <a:noFill/>
          <a:ln/>
        </p:spPr>
        <p:txBody>
          <a:bodyPr wrap="square" lIns="0" tIns="0" rIns="0" bIns="0" rtlCol="0" anchor="ctr"/>
          <a:lstStyle/>
          <a:p>
            <a:pPr algn="ctr" indent="0" marL="0">
              <a:buNone/>
            </a:pPr>
            <a:r>
              <a:rPr lang="en-US" sz="2800" b="1" dirty="0">
                <a:solidFill>
                  <a:srgbClr val="006B3C"/>
                </a:solidFill>
              </a:rPr>
              <a:t>›</a:t>
            </a:r>
            <a:endParaRPr lang="en-US" sz="2800" dirty="0"/>
          </a:p>
        </p:txBody>
      </p:sp>
      <p:sp>
        <p:nvSpPr>
          <p:cNvPr id="27" name="Kartu"/>
          <p:cNvSpPr/>
          <p:nvPr/>
        </p:nvSpPr>
        <p:spPr>
          <a:xfrm>
            <a:off x="9678010" y="1600200"/>
            <a:ext cx="1962302" cy="2286000"/>
          </a:xfrm>
          <a:prstGeom prst="roundRect">
            <a:avLst>
              <a:gd name="adj" fmla="val 5592"/>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8" name="Nomor tahap"/>
          <p:cNvSpPr/>
          <p:nvPr/>
        </p:nvSpPr>
        <p:spPr>
          <a:xfrm>
            <a:off x="9906610" y="1828800"/>
            <a:ext cx="457200" cy="457200"/>
          </a:xfrm>
          <a:prstGeom prst="ellipse">
            <a:avLst/>
          </a:prstGeom>
          <a:solidFill>
            <a:srgbClr val="006B3C"/>
          </a:solidFill>
          <a:ln w="12700">
            <a:solidFill>
              <a:srgbClr val="006B3C"/>
            </a:solidFill>
            <a:prstDash val="solid"/>
          </a:ln>
        </p:spPr>
      </p:sp>
      <p:sp>
        <p:nvSpPr>
          <p:cNvPr id="29" name="Text 27"/>
          <p:cNvSpPr txBox="1"/>
          <p:nvPr/>
        </p:nvSpPr>
        <p:spPr>
          <a:xfrm>
            <a:off x="990661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0" name="Text 28"/>
          <p:cNvSpPr txBox="1"/>
          <p:nvPr/>
        </p:nvSpPr>
        <p:spPr>
          <a:xfrm>
            <a:off x="9906610" y="2423160"/>
            <a:ext cx="1596542" cy="3657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Selesai</a:t>
            </a:r>
            <a:endParaRPr lang="en-US" sz="1700" dirty="0"/>
          </a:p>
        </p:txBody>
      </p:sp>
      <p:sp>
        <p:nvSpPr>
          <p:cNvPr id="31" name="Text 29"/>
          <p:cNvSpPr txBox="1"/>
          <p:nvPr/>
        </p:nvSpPr>
        <p:spPr>
          <a:xfrm>
            <a:off x="9906610" y="2816352"/>
            <a:ext cx="1596542" cy="960120"/>
          </a:xfrm>
          <a:prstGeom prst="rect">
            <a:avLst/>
          </a:prstGeom>
          <a:noFill/>
          <a:ln/>
        </p:spPr>
        <p:txBody>
          <a:bodyPr wrap="square" lIns="0" tIns="0" rIns="0" bIns="0" rtlCol="0" anchor="t"/>
          <a:lstStyle/>
          <a:p>
            <a:pPr indent="0" marL="0">
              <a:buNone/>
            </a:pPr>
            <a:r>
              <a:rPr lang="en-US" sz="1300" dirty="0">
                <a:solidFill>
                  <a:srgbClr val="1B2A24"/>
                </a:solidFill>
              </a:rPr>
              <a:t>TU menutup pengajuan setelah surat diserahkan</a:t>
            </a:r>
            <a:endParaRPr lang="en-US" sz="1300" dirty="0"/>
          </a:p>
        </p:txBody>
      </p:sp>
      <p:sp>
        <p:nvSpPr>
          <p:cNvPr id="32" name="Daftar poin"/>
          <p:cNvSpPr txBox="1"/>
          <p:nvPr/>
        </p:nvSpPr>
        <p:spPr>
          <a:xfrm>
            <a:off x="548640" y="4297680"/>
            <a:ext cx="11091672" cy="182880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Ditolak atau dikembalikan: </a:t>
            </a:r>
            <a:pPr indent="0" marL="0">
              <a:buNone/>
            </a:pPr>
            <a:r>
              <a:rPr lang="en-US" sz="1600" dirty="0">
                <a:solidFill>
                  <a:srgbClr val="1B2A24"/>
                </a:solidFill>
              </a:rPr>
              <a:t>alasan atau catatan revisi wajib diisi dan terbaca pemohon.</a:t>
            </a:r>
            <a:endParaRPr lang="en-US" sz="1600" dirty="0"/>
          </a:p>
          <a:p>
            <a:pPr marL="342900" indent="-342900">
              <a:spcAft>
                <a:spcPts val="1000"/>
              </a:spcAft>
              <a:buSzPct val="100000"/>
              <a:buChar char="•"/>
            </a:pPr>
            <a:r>
              <a:rPr lang="en-US" sz="1600" b="1" dirty="0">
                <a:solidFill>
                  <a:srgbClr val="1B2A24"/>
                </a:solidFill>
              </a:rPr>
              <a:t>Nomor surat terbit saat tanda tangan, </a:t>
            </a:r>
            <a:pPr indent="0" marL="0">
              <a:buNone/>
            </a:pPr>
            <a:r>
              <a:rPr lang="en-US" sz="1600" dirty="0">
                <a:solidFill>
                  <a:srgbClr val="1B2A24"/>
                </a:solidFill>
              </a:rPr>
              <a:t>tidak lebih awal dan tidak pernah ganda.</a:t>
            </a:r>
            <a:endParaRPr lang="en-US" sz="1600" dirty="0"/>
          </a:p>
          <a:p>
            <a:pPr marL="342900" indent="-342900">
              <a:spcAft>
                <a:spcPts val="1000"/>
              </a:spcAft>
              <a:buSzPct val="100000"/>
              <a:buChar char="•"/>
            </a:pPr>
            <a:r>
              <a:rPr lang="en-US" sz="1600" b="1" dirty="0">
                <a:solidFill>
                  <a:srgbClr val="1B2A24"/>
                </a:solidFill>
              </a:rPr>
              <a:t>Tenggat layanan (SLA) </a:t>
            </a:r>
            <a:pPr indent="0" marL="0">
              <a:buNone/>
            </a:pPr>
            <a:r>
              <a:rPr lang="en-US" sz="1600" dirty="0">
                <a:solidFill>
                  <a:srgbClr val="1B2A24"/>
                </a:solidFill>
              </a:rPr>
              <a:t>per jenis surat, 2 sampai 5 hari kerja.</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Mahasiswa mengurus surat dari layar sendiri</a:t>
            </a:r>
            <a:endParaRPr lang="en-US" sz="3400" dirty="0"/>
          </a:p>
        </p:txBody>
      </p:sp>
      <p:pic>
        <p:nvPicPr>
          <p:cNvPr id="3" name="Tangkapan layar" descr="Katalog jenis surat yang dapat diajukan mahasiswa">    </p:cNvPr>
          <p:cNvPicPr>
            <a:picLocks noChangeAspect="1"/>
          </p:cNvPicPr>
          <p:nvPr/>
        </p:nvPicPr>
        <p:blipFill>
          <a:blip r:embed="rId1"/>
          <a:stretch>
            <a:fillRect/>
          </a:stretch>
        </p:blipFill>
        <p:spPr>
          <a:xfrm>
            <a:off x="548640" y="1463040"/>
            <a:ext cx="5394960" cy="3371850"/>
          </a:xfrm>
          <a:prstGeom prst="rect">
            <a:avLst/>
          </a:prstGeom>
          <a:effectLst>
            <a:outerShdw sx="100000" sy="100000" kx="0" ky="0" algn="bl" rotWithShape="0" blurRad="101600" dist="25400" dir="5400000">
              <a:srgbClr val="000000">
                <a:alpha val="12000"/>
              </a:srgbClr>
            </a:outerShdw>
          </a:effectLst>
        </p:spPr>
      </p:pic>
      <p:sp>
        <p:nvSpPr>
          <p:cNvPr id="4" name="Keterangan gambar"/>
          <p:cNvSpPr txBox="1"/>
          <p:nvPr/>
        </p:nvSpPr>
        <p:spPr>
          <a:xfrm>
            <a:off x="548640" y="4926330"/>
            <a:ext cx="5394960" cy="365760"/>
          </a:xfrm>
          <a:prstGeom prst="rect">
            <a:avLst/>
          </a:prstGeom>
          <a:noFill/>
          <a:ln/>
        </p:spPr>
        <p:txBody>
          <a:bodyPr wrap="square" lIns="0" tIns="0" rIns="0" bIns="0" rtlCol="0" anchor="ctr"/>
          <a:lstStyle/>
          <a:p>
            <a:pPr indent="0" marL="0">
              <a:buNone/>
            </a:pPr>
            <a:r>
              <a:rPr lang="en-US" sz="1200" i="1" dirty="0">
                <a:solidFill>
                  <a:srgbClr val="55645D"/>
                </a:solidFill>
              </a:rPr>
              <a:t>Pilih jenis surat; waktu proses tertera</a:t>
            </a:r>
            <a:endParaRPr lang="en-US" sz="1200" dirty="0"/>
          </a:p>
        </p:txBody>
      </p:sp>
      <p:pic>
        <p:nvPicPr>
          <p:cNvPr id="5" name="Tangkapan layar" descr="Halaman lacak status pengajuan">    </p:cNvPr>
          <p:cNvPicPr>
            <a:picLocks noChangeAspect="1"/>
          </p:cNvPicPr>
          <p:nvPr/>
        </p:nvPicPr>
        <p:blipFill>
          <a:blip r:embed="rId2"/>
          <a:stretch>
            <a:fillRect/>
          </a:stretch>
        </p:blipFill>
        <p:spPr>
          <a:xfrm>
            <a:off x="6309360" y="1463040"/>
            <a:ext cx="5394960" cy="3371850"/>
          </a:xfrm>
          <a:prstGeom prst="rect">
            <a:avLst/>
          </a:prstGeom>
          <a:effectLst>
            <a:outerShdw sx="100000" sy="100000" kx="0" ky="0" algn="bl" rotWithShape="0" blurRad="101600" dist="25400" dir="5400000">
              <a:srgbClr val="000000">
                <a:alpha val="12000"/>
              </a:srgbClr>
            </a:outerShdw>
          </a:effectLst>
        </p:spPr>
      </p:pic>
      <p:sp>
        <p:nvSpPr>
          <p:cNvPr id="6" name="Keterangan gambar"/>
          <p:cNvSpPr txBox="1"/>
          <p:nvPr/>
        </p:nvSpPr>
        <p:spPr>
          <a:xfrm>
            <a:off x="6309360" y="4926330"/>
            <a:ext cx="5394960" cy="365760"/>
          </a:xfrm>
          <a:prstGeom prst="rect">
            <a:avLst/>
          </a:prstGeom>
          <a:noFill/>
          <a:ln/>
        </p:spPr>
        <p:txBody>
          <a:bodyPr wrap="square" lIns="0" tIns="0" rIns="0" bIns="0" rtlCol="0" anchor="ctr"/>
          <a:lstStyle/>
          <a:p>
            <a:pPr indent="0" marL="0">
              <a:buNone/>
            </a:pPr>
            <a:r>
              <a:rPr lang="en-US" sz="1200" i="1" dirty="0">
                <a:solidFill>
                  <a:srgbClr val="55645D"/>
                </a:solidFill>
              </a:rPr>
              <a:t>Lacak status dengan nomor registrasi</a:t>
            </a:r>
            <a:endParaRPr lang="en-US" sz="1200" dirty="0"/>
          </a:p>
        </p:txBody>
      </p:sp>
      <p:sp>
        <p:nvSpPr>
          <p:cNvPr id="7" name="Daftar poin"/>
          <p:cNvSpPr txBox="1"/>
          <p:nvPr/>
        </p:nvSpPr>
        <p:spPr>
          <a:xfrm>
            <a:off x="548640" y="5440680"/>
            <a:ext cx="11091672" cy="91440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Formulir tiga langkah: </a:t>
            </a:r>
            <a:pPr indent="0" marL="0">
              <a:buNone/>
            </a:pPr>
            <a:r>
              <a:rPr lang="en-US" sz="1600" dirty="0">
                <a:solidFill>
                  <a:srgbClr val="1B2A24"/>
                </a:solidFill>
              </a:rPr>
              <a:t>data akademik, berkas persyaratan (PDF/JPG/PNG, maks 2 MB), ringkasan.</a:t>
            </a:r>
            <a:endParaRPr lang="en-US" sz="1600" dirty="0"/>
          </a:p>
          <a:p>
            <a:pPr marL="342900" indent="-342900">
              <a:spcAft>
                <a:spcPts val="1000"/>
              </a:spcAft>
              <a:buSzPct val="100000"/>
              <a:buChar char="•"/>
            </a:pPr>
            <a:r>
              <a:rPr lang="en-US" sz="1600" b="1" dirty="0">
                <a:solidFill>
                  <a:srgbClr val="1B2A24"/>
                </a:solidFill>
              </a:rPr>
              <a:t>Unduh PDF </a:t>
            </a:r>
            <a:pPr indent="0" marL="0">
              <a:buNone/>
            </a:pPr>
            <a:r>
              <a:rPr lang="en-US" sz="1600" dirty="0">
                <a:solidFill>
                  <a:srgbClr val="1B2A24"/>
                </a:solidFill>
              </a:rPr>
              <a:t>begitu surat ditandatangani; riwayat tersimpan di akun.</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Simulasi: mahasiswa mengisi pengajuan</a:t>
            </a:r>
            <a:endParaRPr lang="en-US" sz="3400" dirty="0"/>
          </a:p>
        </p:txBody>
      </p:sp>
      <p:sp>
        <p:nvSpPr>
          <p:cNvPr id="3" name="Nomor langkah"/>
          <p:cNvSpPr/>
          <p:nvPr/>
        </p:nvSpPr>
        <p:spPr>
          <a:xfrm>
            <a:off x="548640" y="1417320"/>
            <a:ext cx="457200" cy="457200"/>
          </a:xfrm>
          <a:prstGeom prst="ellipse">
            <a:avLst/>
          </a:prstGeom>
          <a:solidFill>
            <a:srgbClr val="006B3C"/>
          </a:solidFill>
          <a:ln w="12700">
            <a:solidFill>
              <a:srgbClr val="006B3C"/>
            </a:solidFill>
            <a:prstDash val="solid"/>
          </a:ln>
        </p:spPr>
      </p:sp>
      <p:sp>
        <p:nvSpPr>
          <p:cNvPr id="4"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143000"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Isi data surat</a:t>
            </a:r>
            <a:endParaRPr lang="en-US" sz="1900" dirty="0"/>
          </a:p>
        </p:txBody>
      </p:sp>
      <p:pic>
        <p:nvPicPr>
          <p:cNvPr id="6" name="Tangkapan simulasi" descr="Formulir data detail Surat Keterangan Aktif Kuliah yang sudah terisi">    </p:cNvPr>
          <p:cNvPicPr>
            <a:picLocks noChangeAspect="1"/>
          </p:cNvPicPr>
          <p:nvPr/>
        </p:nvPicPr>
        <p:blipFill>
          <a:blip r:embed="rId1"/>
          <a:stretch>
            <a:fillRect/>
          </a:stretch>
        </p:blipFill>
        <p:spPr>
          <a:xfrm>
            <a:off x="548640" y="2057400"/>
            <a:ext cx="5394960" cy="2835812"/>
          </a:xfrm>
          <a:prstGeom prst="rect">
            <a:avLst/>
          </a:prstGeom>
          <a:effectLst>
            <a:outerShdw sx="100000" sy="100000" kx="0" ky="0" algn="bl" rotWithShape="0" blurRad="101600" dist="25400" dir="5400000">
              <a:srgbClr val="000000">
                <a:alpha val="12000"/>
              </a:srgbClr>
            </a:outerShdw>
          </a:effectLst>
        </p:spPr>
      </p:pic>
      <p:sp>
        <p:nvSpPr>
          <p:cNvPr id="7" name="Nomor langkah"/>
          <p:cNvSpPr/>
          <p:nvPr/>
        </p:nvSpPr>
        <p:spPr>
          <a:xfrm>
            <a:off x="6245352" y="1417320"/>
            <a:ext cx="457200" cy="457200"/>
          </a:xfrm>
          <a:prstGeom prst="ellipse">
            <a:avLst/>
          </a:prstGeom>
          <a:solidFill>
            <a:srgbClr val="006B3C"/>
          </a:solidFill>
          <a:ln w="12700">
            <a:solidFill>
              <a:srgbClr val="006B3C"/>
            </a:solidFill>
            <a:prstDash val="solid"/>
          </a:ln>
        </p:spPr>
      </p:sp>
      <p:sp>
        <p:nvSpPr>
          <p:cNvPr id="8" name="Text 5"/>
          <p:cNvSpPr txBox="1"/>
          <p:nvPr/>
        </p:nvSpPr>
        <p:spPr>
          <a:xfrm>
            <a:off x="6245352"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6"/>
          <p:cNvSpPr txBox="1"/>
          <p:nvPr/>
        </p:nvSpPr>
        <p:spPr>
          <a:xfrm>
            <a:off x="6839712"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Unggah berkas persyaratan</a:t>
            </a:r>
            <a:endParaRPr lang="en-US" sz="1900" dirty="0"/>
          </a:p>
        </p:txBody>
      </p:sp>
      <p:pic>
        <p:nvPicPr>
          <p:cNvPr id="10" name="Tangkapan simulasi" descr="Dua berkas persyaratan berhasil diunggah">    </p:cNvPr>
          <p:cNvPicPr>
            <a:picLocks noChangeAspect="1"/>
          </p:cNvPicPr>
          <p:nvPr/>
        </p:nvPicPr>
        <p:blipFill>
          <a:blip r:embed="rId2"/>
          <a:stretch>
            <a:fillRect/>
          </a:stretch>
        </p:blipFill>
        <p:spPr>
          <a:xfrm>
            <a:off x="6245352" y="2057400"/>
            <a:ext cx="5394960" cy="2974145"/>
          </a:xfrm>
          <a:prstGeom prst="rect">
            <a:avLst/>
          </a:prstGeom>
          <a:effectLst>
            <a:outerShdw sx="100000" sy="100000" kx="0" ky="0" algn="bl" rotWithShape="0" blurRad="101600" dist="25400" dir="5400000">
              <a:srgbClr val="000000">
                <a:alpha val="12000"/>
              </a:srgbClr>
            </a:outerShdw>
          </a:effectLst>
        </p:spPr>
      </p:pic>
      <p:sp>
        <p:nvSpPr>
          <p:cNvPr id="11" name="Text 7"/>
          <p:cNvSpPr txBox="1"/>
          <p:nvPr/>
        </p:nvSpPr>
        <p:spPr>
          <a:xfrm>
            <a:off x="548640" y="5257800"/>
            <a:ext cx="5394960" cy="914400"/>
          </a:xfrm>
          <a:prstGeom prst="rect">
            <a:avLst/>
          </a:prstGeom>
          <a:noFill/>
          <a:ln/>
        </p:spPr>
        <p:txBody>
          <a:bodyPr wrap="square" lIns="0" tIns="0" rIns="0" bIns="0" rtlCol="0" anchor="t"/>
          <a:lstStyle/>
          <a:p>
            <a:pPr indent="0" marL="0">
              <a:buNone/>
            </a:pPr>
            <a:r>
              <a:rPr lang="en-US" sz="1500" dirty="0">
                <a:solidFill>
                  <a:srgbClr val="1B2A24"/>
                </a:solidFill>
              </a:rPr>
              <a:t>Surat Keterangan Aktif Kuliah: semester 7, tahun akademik 2026/2027 Ganjil, keterangan untuk BPJS. Data profil terisi otomatis dari akun.</a:t>
            </a:r>
            <a:endParaRPr lang="en-US" sz="1500" dirty="0"/>
          </a:p>
        </p:txBody>
      </p:sp>
      <p:sp>
        <p:nvSpPr>
          <p:cNvPr id="12" name="Text 8"/>
          <p:cNvSpPr txBox="1"/>
          <p:nvPr/>
        </p:nvSpPr>
        <p:spPr>
          <a:xfrm>
            <a:off x="6245352" y="5257800"/>
            <a:ext cx="5394960" cy="914400"/>
          </a:xfrm>
          <a:prstGeom prst="rect">
            <a:avLst/>
          </a:prstGeom>
          <a:noFill/>
          <a:ln/>
        </p:spPr>
        <p:txBody>
          <a:bodyPr wrap="square" lIns="0" tIns="0" rIns="0" bIns="0" rtlCol="0" anchor="t"/>
          <a:lstStyle/>
          <a:p>
            <a:pPr indent="0" marL="0">
              <a:buNone/>
            </a:pPr>
            <a:r>
              <a:rPr lang="en-US" sz="1500" dirty="0">
                <a:solidFill>
                  <a:srgbClr val="1B2A24"/>
                </a:solidFill>
              </a:rPr>
              <a:t>KTM aktif dan bukti SPP semester berjalan (PDF, JPG, atau PNG, maksimal 2 MB). Berkas wajib ditandai "Wajib".</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Simulasi: periksa, pratinjau, kirim</a:t>
            </a:r>
            <a:endParaRPr lang="en-US" sz="3400" dirty="0"/>
          </a:p>
        </p:txBody>
      </p:sp>
      <p:sp>
        <p:nvSpPr>
          <p:cNvPr id="3" name="Nomor langkah"/>
          <p:cNvSpPr/>
          <p:nvPr/>
        </p:nvSpPr>
        <p:spPr>
          <a:xfrm>
            <a:off x="548640" y="1417320"/>
            <a:ext cx="457200" cy="457200"/>
          </a:xfrm>
          <a:prstGeom prst="ellipse">
            <a:avLst/>
          </a:prstGeom>
          <a:solidFill>
            <a:srgbClr val="006B3C"/>
          </a:solidFill>
          <a:ln w="12700">
            <a:solidFill>
              <a:srgbClr val="006B3C"/>
            </a:solidFill>
            <a:prstDash val="solid"/>
          </a:ln>
        </p:spPr>
      </p:sp>
      <p:sp>
        <p:nvSpPr>
          <p:cNvPr id="4"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5" name="Text 3"/>
          <p:cNvSpPr txBox="1"/>
          <p:nvPr/>
        </p:nvSpPr>
        <p:spPr>
          <a:xfrm>
            <a:off x="1143000"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Periksa ringkasan, lalu kirim</a:t>
            </a:r>
            <a:endParaRPr lang="en-US" sz="1900" dirty="0"/>
          </a:p>
        </p:txBody>
      </p:sp>
      <p:pic>
        <p:nvPicPr>
          <p:cNvPr id="6" name="Tangkapan simulasi" descr="Ringkasan permohonan dengan pernyataan dicentang dan tombol Kirim Pengajuan">    </p:cNvPr>
          <p:cNvPicPr>
            <a:picLocks noChangeAspect="1"/>
          </p:cNvPicPr>
          <p:nvPr/>
        </p:nvPicPr>
        <p:blipFill>
          <a:blip r:embed="rId1"/>
          <a:stretch>
            <a:fillRect/>
          </a:stretch>
        </p:blipFill>
        <p:spPr>
          <a:xfrm>
            <a:off x="548640" y="2057400"/>
            <a:ext cx="5394960" cy="3527474"/>
          </a:xfrm>
          <a:prstGeom prst="rect">
            <a:avLst/>
          </a:prstGeom>
          <a:effectLst>
            <a:outerShdw sx="100000" sy="100000" kx="0" ky="0" algn="bl" rotWithShape="0" blurRad="101600" dist="25400" dir="5400000">
              <a:srgbClr val="000000">
                <a:alpha val="12000"/>
              </a:srgbClr>
            </a:outerShdw>
          </a:effectLst>
        </p:spPr>
      </p:pic>
      <p:sp>
        <p:nvSpPr>
          <p:cNvPr id="7" name="Penanda pratinjau"/>
          <p:cNvSpPr/>
          <p:nvPr/>
        </p:nvSpPr>
        <p:spPr>
          <a:xfrm>
            <a:off x="6245352" y="1417320"/>
            <a:ext cx="457200" cy="457200"/>
          </a:xfrm>
          <a:prstGeom prst="ellipse">
            <a:avLst/>
          </a:prstGeom>
          <a:solidFill>
            <a:srgbClr val="FDB913"/>
          </a:solidFill>
          <a:ln w="12700">
            <a:solidFill>
              <a:srgbClr val="FDB913"/>
            </a:solidFill>
            <a:prstDash val="solid"/>
          </a:ln>
        </p:spPr>
      </p:sp>
      <p:sp>
        <p:nvSpPr>
          <p:cNvPr id="8" name="Text 5"/>
          <p:cNvSpPr txBox="1"/>
          <p:nvPr/>
        </p:nvSpPr>
        <p:spPr>
          <a:xfrm>
            <a:off x="6245352" y="1417320"/>
            <a:ext cx="457200" cy="457200"/>
          </a:xfrm>
          <a:prstGeom prst="rect">
            <a:avLst/>
          </a:prstGeom>
          <a:noFill/>
          <a:ln/>
        </p:spPr>
        <p:txBody>
          <a:bodyPr wrap="square" lIns="0" tIns="0" rIns="0" bIns="0" rtlCol="0" anchor="ctr"/>
          <a:lstStyle/>
          <a:p>
            <a:pPr algn="ctr" indent="0" marL="0">
              <a:buNone/>
            </a:pPr>
            <a:r>
              <a:rPr lang="en-US" sz="1800" b="1" dirty="0">
                <a:solidFill>
                  <a:srgbClr val="1B2A24"/>
                </a:solidFill>
              </a:rPr>
              <a:t>✓</a:t>
            </a:r>
            <a:endParaRPr lang="en-US" sz="1800" dirty="0"/>
          </a:p>
        </p:txBody>
      </p:sp>
      <p:sp>
        <p:nvSpPr>
          <p:cNvPr id="9" name="Text 6"/>
          <p:cNvSpPr txBox="1"/>
          <p:nvPr/>
        </p:nvSpPr>
        <p:spPr>
          <a:xfrm>
            <a:off x="6839712"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Lihat Tampilan Surat (opsional)</a:t>
            </a:r>
            <a:endParaRPr lang="en-US" sz="1900" dirty="0"/>
          </a:p>
        </p:txBody>
      </p:sp>
      <p:pic>
        <p:nvPicPr>
          <p:cNvPr id="10" name="Tangkapan simulasi" descr="Pratinjau surat sebelum dikirim dengan nomor 000">    </p:cNvPr>
          <p:cNvPicPr>
            <a:picLocks noChangeAspect="1"/>
          </p:cNvPicPr>
          <p:nvPr/>
        </p:nvPicPr>
        <p:blipFill>
          <a:blip r:embed="rId2"/>
          <a:stretch>
            <a:fillRect/>
          </a:stretch>
        </p:blipFill>
        <p:spPr>
          <a:xfrm>
            <a:off x="6245352" y="2057400"/>
            <a:ext cx="5394960" cy="3280810"/>
          </a:xfrm>
          <a:prstGeom prst="rect">
            <a:avLst/>
          </a:prstGeom>
          <a:effectLst>
            <a:outerShdw sx="100000" sy="100000" kx="0" ky="0" algn="bl" rotWithShape="0" blurRad="101600" dist="25400" dir="5400000">
              <a:srgbClr val="000000">
                <a:alpha val="12000"/>
              </a:srgbClr>
            </a:outerShdw>
          </a:effectLst>
        </p:spPr>
      </p:pic>
      <p:sp>
        <p:nvSpPr>
          <p:cNvPr id="11" name="Text 7"/>
          <p:cNvSpPr txBox="1"/>
          <p:nvPr/>
        </p:nvSpPr>
        <p:spPr>
          <a:xfrm>
            <a:off x="548640" y="5722034"/>
            <a:ext cx="5394960" cy="594360"/>
          </a:xfrm>
          <a:prstGeom prst="rect">
            <a:avLst/>
          </a:prstGeom>
          <a:noFill/>
          <a:ln/>
        </p:spPr>
        <p:txBody>
          <a:bodyPr wrap="square" lIns="0" tIns="0" rIns="0" bIns="0" rtlCol="0" anchor="t"/>
          <a:lstStyle/>
          <a:p>
            <a:pPr indent="0" marL="0">
              <a:buNone/>
            </a:pPr>
            <a:r>
              <a:rPr lang="en-US" sz="1500" dirty="0">
                <a:solidFill>
                  <a:srgbClr val="1B2A24"/>
                </a:solidFill>
              </a:rPr>
              <a:t>Periksa isian dan berkas, centang pernyataan, lalu klik Kirim Pengajuan. Data tidak dapat diubah setelah dikirim.</a:t>
            </a:r>
            <a:endParaRPr lang="en-US" sz="1500" dirty="0"/>
          </a:p>
        </p:txBody>
      </p:sp>
      <p:sp>
        <p:nvSpPr>
          <p:cNvPr id="12" name="Text 8"/>
          <p:cNvSpPr txBox="1"/>
          <p:nvPr/>
        </p:nvSpPr>
        <p:spPr>
          <a:xfrm>
            <a:off x="6245352" y="5484170"/>
            <a:ext cx="5394960" cy="594360"/>
          </a:xfrm>
          <a:prstGeom prst="rect">
            <a:avLst/>
          </a:prstGeom>
          <a:noFill/>
          <a:ln/>
        </p:spPr>
        <p:txBody>
          <a:bodyPr wrap="square" lIns="0" tIns="0" rIns="0" bIns="0" rtlCol="0" anchor="t"/>
          <a:lstStyle/>
          <a:p>
            <a:pPr indent="0" marL="0">
              <a:buNone/>
            </a:pPr>
            <a:r>
              <a:rPr lang="en-US" sz="1500" dirty="0">
                <a:solidFill>
                  <a:srgbClr val="1B2A24"/>
                </a:solidFill>
              </a:rPr>
              <a:t>Pratinjau sama dengan PDF. Nomor tampil 000; nomor asli dan QR terbit saat Dekan menandatangani.</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Simulasi: pengajuan terkirim</a:t>
            </a:r>
            <a:endParaRPr lang="en-US" sz="3400" dirty="0"/>
          </a:p>
        </p:txBody>
      </p:sp>
      <p:pic>
        <p:nvPicPr>
          <p:cNvPr id="3" name="Tangkapan layar" descr="Halaman status setelah pengajuan terkirim, dengan nomor registrasi">    </p:cNvPr>
          <p:cNvPicPr>
            <a:picLocks noChangeAspect="1"/>
          </p:cNvPicPr>
          <p:nvPr/>
        </p:nvPicPr>
        <p:blipFill>
          <a:blip r:embed="rId1"/>
          <a:stretch>
            <a:fillRect/>
          </a:stretch>
        </p:blipFill>
        <p:spPr>
          <a:xfrm>
            <a:off x="548640" y="1463040"/>
            <a:ext cx="6949440" cy="4343400"/>
          </a:xfrm>
          <a:prstGeom prst="rect">
            <a:avLst/>
          </a:prstGeom>
          <a:effectLst>
            <a:outerShdw sx="100000" sy="100000" kx="0" ky="0" algn="bl" rotWithShape="0" blurRad="101600" dist="25400" dir="5400000">
              <a:srgbClr val="000000">
                <a:alpha val="12000"/>
              </a:srgbClr>
            </a:outerShdw>
          </a:effectLst>
        </p:spPr>
      </p:pic>
      <p:sp>
        <p:nvSpPr>
          <p:cNvPr id="4" name="Daftar poin"/>
          <p:cNvSpPr txBox="1"/>
          <p:nvPr/>
        </p:nvSpPr>
        <p:spPr>
          <a:xfrm>
            <a:off x="7955280" y="1554480"/>
            <a:ext cx="3685032" cy="43891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Nomor registrasi </a:t>
            </a:r>
            <a:pPr indent="0" marL="0">
              <a:buNone/>
            </a:pPr>
            <a:r>
              <a:rPr lang="en-US" sz="1600" dirty="0">
                <a:solidFill>
                  <a:srgbClr val="1B2A24"/>
                </a:solidFill>
              </a:rPr>
              <a:t>muncul seketika (contoh REG-2026-000009) untuk dilacak.</a:t>
            </a:r>
            <a:endParaRPr lang="en-US" sz="1600" dirty="0"/>
          </a:p>
          <a:p>
            <a:pPr marL="342900" indent="-342900">
              <a:spcAft>
                <a:spcPts val="1000"/>
              </a:spcAft>
              <a:buSzPct val="100000"/>
              <a:buChar char="•"/>
            </a:pPr>
            <a:r>
              <a:rPr lang="en-US" sz="1600" b="1" dirty="0">
                <a:solidFill>
                  <a:srgbClr val="1B2A24"/>
                </a:solidFill>
              </a:rPr>
              <a:t>Status Diajukan: </a:t>
            </a:r>
            <a:pPr indent="0" marL="0">
              <a:buNone/>
            </a:pPr>
            <a:r>
              <a:rPr lang="en-US" sz="1600" dirty="0">
                <a:solidFill>
                  <a:srgbClr val="1B2A24"/>
                </a:solidFill>
              </a:rPr>
              <a:t>tahap berikutnya menunggu verifikasi Admin TU.</a:t>
            </a:r>
            <a:endParaRPr lang="en-US" sz="1600" dirty="0"/>
          </a:p>
          <a:p>
            <a:pPr marL="342900" indent="-342900">
              <a:spcAft>
                <a:spcPts val="1000"/>
              </a:spcAft>
              <a:buSzPct val="100000"/>
              <a:buChar char="•"/>
            </a:pPr>
            <a:r>
              <a:rPr lang="en-US" sz="1600" b="1" dirty="0">
                <a:solidFill>
                  <a:srgbClr val="1B2A24"/>
                </a:solidFill>
              </a:rPr>
              <a:t>Berkas yang diunggah </a:t>
            </a:r>
            <a:pPr indent="0" marL="0">
              <a:buNone/>
            </a:pPr>
            <a:r>
              <a:rPr lang="en-US" sz="1600" dirty="0">
                <a:solidFill>
                  <a:srgbClr val="1B2A24"/>
                </a:solidFill>
              </a:rPr>
              <a:t>tercatat sebagai lampiran pengajuan.</a:t>
            </a:r>
            <a:endParaRPr lang="en-US" sz="1600" dirty="0"/>
          </a:p>
          <a:p>
            <a:pPr marL="342900" indent="-342900">
              <a:spcAft>
                <a:spcPts val="1000"/>
              </a:spcAft>
              <a:buSzPct val="100000"/>
              <a:buChar char="•"/>
            </a:pPr>
            <a:r>
              <a:rPr lang="en-US" sz="1600" b="1" dirty="0">
                <a:solidFill>
                  <a:srgbClr val="1B2A24"/>
                </a:solidFill>
              </a:rPr>
              <a:t>Admin TU menerima notifikasi </a:t>
            </a:r>
            <a:pPr indent="0" marL="0">
              <a:buNone/>
            </a:pPr>
            <a:r>
              <a:rPr lang="en-US" sz="1600" dirty="0">
                <a:solidFill>
                  <a:srgbClr val="1B2A24"/>
                </a:solidFill>
              </a:rPr>
              <a:t>pengajuan baru; mahasiswa dapat memantau di garis waktu.</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TU memeriksa, sistem menyusun surat</a:t>
            </a:r>
            <a:endParaRPr lang="en-US" sz="3400" dirty="0"/>
          </a:p>
        </p:txBody>
      </p:sp>
      <p:pic>
        <p:nvPicPr>
          <p:cNvPr id="3" name="Tangkapan layar" descr="Halaman verifikasi pengajuan oleh Admin TU">    </p:cNvPr>
          <p:cNvPicPr>
            <a:picLocks noChangeAspect="1"/>
          </p:cNvPicPr>
          <p:nvPr/>
        </p:nvPicPr>
        <p:blipFill>
          <a:blip r:embed="rId1"/>
          <a:stretch>
            <a:fillRect/>
          </a:stretch>
        </p:blipFill>
        <p:spPr>
          <a:xfrm>
            <a:off x="548640" y="1463040"/>
            <a:ext cx="6949440" cy="4343400"/>
          </a:xfrm>
          <a:prstGeom prst="rect">
            <a:avLst/>
          </a:prstGeom>
          <a:effectLst>
            <a:outerShdw sx="100000" sy="100000" kx="0" ky="0" algn="bl" rotWithShape="0" blurRad="101600" dist="25400" dir="5400000">
              <a:srgbClr val="000000">
                <a:alpha val="12000"/>
              </a:srgbClr>
            </a:outerShdw>
          </a:effectLst>
        </p:spPr>
      </p:pic>
      <p:sp>
        <p:nvSpPr>
          <p:cNvPr id="4" name="Daftar poin"/>
          <p:cNvSpPr txBox="1"/>
          <p:nvPr/>
        </p:nvSpPr>
        <p:spPr>
          <a:xfrm>
            <a:off x="7955280" y="1554480"/>
            <a:ext cx="3685032" cy="43891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Satu halaman: </a:t>
            </a:r>
            <a:pPr indent="0" marL="0">
              <a:buNone/>
            </a:pPr>
            <a:r>
              <a:rPr lang="en-US" sz="1600" dirty="0">
                <a:solidFill>
                  <a:srgbClr val="1B2A24"/>
                </a:solidFill>
              </a:rPr>
              <a:t>rincian permohonan, identitas pemohon, berkas, dan garis waktu.</a:t>
            </a:r>
            <a:endParaRPr lang="en-US" sz="1600" dirty="0"/>
          </a:p>
          <a:p>
            <a:pPr marL="342900" indent="-342900">
              <a:spcAft>
                <a:spcPts val="1000"/>
              </a:spcAft>
              <a:buSzPct val="100000"/>
              <a:buChar char="•"/>
            </a:pPr>
            <a:r>
              <a:rPr lang="en-US" sz="1600" b="1" dirty="0">
                <a:solidFill>
                  <a:srgbClr val="1B2A24"/>
                </a:solidFill>
              </a:rPr>
              <a:t>Tindakan: </a:t>
            </a:r>
            <a:pPr indent="0" marL="0">
              <a:buNone/>
            </a:pPr>
            <a:r>
              <a:rPr lang="en-US" sz="1600" dirty="0">
                <a:solidFill>
                  <a:srgbClr val="1B2A24"/>
                </a:solidFill>
              </a:rPr>
              <a:t>isi nomor surat bila penomoran manual, tambah catatan, lalu Verifikasi &amp; Teruskan atau Tolak.</a:t>
            </a:r>
            <a:endParaRPr lang="en-US" sz="1600" dirty="0"/>
          </a:p>
          <a:p>
            <a:pPr marL="342900" indent="-342900">
              <a:spcAft>
                <a:spcPts val="1000"/>
              </a:spcAft>
              <a:buSzPct val="100000"/>
              <a:buChar char="•"/>
            </a:pPr>
            <a:r>
              <a:rPr lang="en-US" sz="1600" b="1" dirty="0">
                <a:solidFill>
                  <a:srgbClr val="1B2A24"/>
                </a:solidFill>
              </a:rPr>
              <a:t>Otomatis: </a:t>
            </a:r>
            <a:pPr indent="0" marL="0">
              <a:buNone/>
            </a:pPr>
            <a:r>
              <a:rPr lang="en-US" sz="1600" dirty="0">
                <a:solidFill>
                  <a:srgbClr val="1B2A24"/>
                </a:solidFill>
              </a:rPr>
              <a:t>surat disusun dari templat dan diteruskan ke paraf atau tanda tangan sesuai aturan jenis surat.</a:t>
            </a:r>
            <a:endParaRPr lang="en-US" sz="1600" dirty="0"/>
          </a:p>
          <a:p>
            <a:pPr marL="342900" indent="-342900">
              <a:spcAft>
                <a:spcPts val="1000"/>
              </a:spcAft>
              <a:buSzPct val="100000"/>
              <a:buChar char="•"/>
            </a:pPr>
            <a:r>
              <a:rPr lang="en-US" sz="1600" b="1" dirty="0">
                <a:solidFill>
                  <a:srgbClr val="1B2A24"/>
                </a:solidFill>
              </a:rPr>
              <a:t>Kaprodi </a:t>
            </a:r>
            <a:pPr indent="0" marL="0">
              <a:buNone/>
            </a:pPr>
            <a:r>
              <a:rPr lang="en-US" sz="1600" dirty="0">
                <a:solidFill>
                  <a:srgbClr val="1B2A24"/>
                </a:solidFill>
              </a:rPr>
              <a:t>memverifikasi sendiri untuk jenis surat tertentu, hanya mahasiswa prodinya.</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Pimpinan mengesahkan dengan kata sandi</a:t>
            </a:r>
            <a:endParaRPr lang="en-US" sz="3400" dirty="0"/>
          </a:p>
        </p:txBody>
      </p:sp>
      <p:pic>
        <p:nvPicPr>
          <p:cNvPr id="3" name="Tangkapan layar" descr="Halaman persetujuan Dekan dengan panel tanda tangan">    </p:cNvPr>
          <p:cNvPicPr>
            <a:picLocks noChangeAspect="1"/>
          </p:cNvPicPr>
          <p:nvPr/>
        </p:nvPicPr>
        <p:blipFill>
          <a:blip r:embed="rId1"/>
          <a:stretch>
            <a:fillRect/>
          </a:stretch>
        </p:blipFill>
        <p:spPr>
          <a:xfrm>
            <a:off x="548640" y="1463040"/>
            <a:ext cx="6949440" cy="4343400"/>
          </a:xfrm>
          <a:prstGeom prst="rect">
            <a:avLst/>
          </a:prstGeom>
          <a:effectLst>
            <a:outerShdw sx="100000" sy="100000" kx="0" ky="0" algn="bl" rotWithShape="0" blurRad="101600" dist="25400" dir="5400000">
              <a:srgbClr val="000000">
                <a:alpha val="12000"/>
              </a:srgbClr>
            </a:outerShdw>
          </a:effectLst>
        </p:spPr>
      </p:pic>
      <p:sp>
        <p:nvSpPr>
          <p:cNvPr id="4" name="Daftar poin"/>
          <p:cNvSpPr txBox="1"/>
          <p:nvPr/>
        </p:nvSpPr>
        <p:spPr>
          <a:xfrm>
            <a:off x="7955280" y="1554480"/>
            <a:ext cx="3685032" cy="43891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Pratinjau sama dengan PDF. </a:t>
            </a:r>
            <a:pPr indent="0" marL="0">
              <a:buNone/>
            </a:pPr>
            <a:r>
              <a:rPr lang="en-US" sz="1600" dirty="0">
                <a:solidFill>
                  <a:srgbClr val="1B2A24"/>
                </a:solidFill>
              </a:rPr>
              <a:t>Nomor tampil 000; nomor asli terbit saat tanda tangan.</a:t>
            </a:r>
            <a:endParaRPr lang="en-US" sz="1600" dirty="0"/>
          </a:p>
          <a:p>
            <a:pPr marL="342900" indent="-342900">
              <a:spcAft>
                <a:spcPts val="1000"/>
              </a:spcAft>
              <a:buSzPct val="100000"/>
              <a:buChar char="•"/>
            </a:pPr>
            <a:r>
              <a:rPr lang="en-US" sz="1600" b="1" dirty="0">
                <a:solidFill>
                  <a:srgbClr val="1B2A24"/>
                </a:solidFill>
              </a:rPr>
              <a:t>Konfirmasi kata sandi akun </a:t>
            </a:r>
            <a:pPr indent="0" marL="0">
              <a:buNone/>
            </a:pPr>
            <a:r>
              <a:rPr lang="en-US" sz="1600" dirty="0">
                <a:solidFill>
                  <a:srgbClr val="1B2A24"/>
                </a:solidFill>
              </a:rPr>
              <a:t>sebelum Setujui &amp; Tanda Tangani (TTE).</a:t>
            </a:r>
            <a:endParaRPr lang="en-US" sz="1600" dirty="0"/>
          </a:p>
          <a:p>
            <a:pPr marL="342900" indent="-342900">
              <a:spcAft>
                <a:spcPts val="1000"/>
              </a:spcAft>
              <a:buSzPct val="100000"/>
              <a:buChar char="•"/>
            </a:pPr>
            <a:r>
              <a:rPr lang="en-US" sz="1600" b="1" dirty="0">
                <a:solidFill>
                  <a:srgbClr val="1B2A24"/>
                </a:solidFill>
              </a:rPr>
              <a:t>Tiga pilihan: </a:t>
            </a:r>
            <a:pPr indent="0" marL="0">
              <a:buNone/>
            </a:pPr>
            <a:r>
              <a:rPr lang="en-US" sz="1600" dirty="0">
                <a:solidFill>
                  <a:srgbClr val="1B2A24"/>
                </a:solidFill>
              </a:rPr>
              <a:t>tanda tangani, kembalikan untuk revisi, atau tolak (catatan atau alasan wajib).</a:t>
            </a:r>
            <a:endParaRPr lang="en-US" sz="1600" dirty="0"/>
          </a:p>
          <a:p>
            <a:pPr marL="342900" indent="-342900">
              <a:spcAft>
                <a:spcPts val="1000"/>
              </a:spcAft>
              <a:buSzPct val="100000"/>
              <a:buChar char="•"/>
            </a:pPr>
            <a:r>
              <a:rPr lang="en-US" sz="1600" b="1" dirty="0">
                <a:solidFill>
                  <a:srgbClr val="1B2A24"/>
                </a:solidFill>
              </a:rPr>
              <a:t>Satu transaksi: </a:t>
            </a:r>
            <a:pPr indent="0" marL="0">
              <a:buNone/>
            </a:pPr>
            <a:r>
              <a:rPr lang="en-US" sz="1600" dirty="0">
                <a:solidFill>
                  <a:srgbClr val="1B2A24"/>
                </a:solidFill>
              </a:rPr>
              <a:t>nomor, QR, tanda tangan digital, PDF, dan hash disimpan bersama, atau dibatalkan bersama.</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Dua bentuk surat: ber-QR atau tanpa QR</a:t>
            </a:r>
            <a:endParaRPr lang="en-US" sz="3400" dirty="0"/>
          </a:p>
        </p:txBody>
      </p:sp>
      <p:graphicFrame>
        <p:nvGraphicFramePr>
          <p:cNvPr id="13" name="Tabel perbandingan"/>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377440"/>
                <a:gridCol w="4480560"/>
                <a:gridCol w="4233672"/>
              </a:tblGrid>
              <a:tr h="548640">
                <a:tc>
                  <a:txBody>
                    <a:bodyPr/>
                    <a:lstStyle/>
                    <a:p>
                      <a:pPr indent="0" marL="0">
                        <a:buNone/>
                      </a:pPr>
                      <a:endParaRPr lang="en-US" sz="1600" dirty="0">
                        <a:latin typeface="Cambria" charset="0"/>
                        <a:ea typeface="Cambria" charset="0"/>
                        <a:cs typeface="Cambria" charset="0"/>
                      </a:endParaRPr>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Surat ber-QR (TTE)</a:t>
                      </a:r>
                      <a:endParaRPr lang="en-US" sz="1600" dirty="0">
                        <a:latin typeface="Cambria" charset="0"/>
                        <a:ea typeface="Cambria" charset="0"/>
                        <a:cs typeface="Cambria" charset="0"/>
                      </a:endParaRPr>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004D2C"/>
                    </a:solidFill>
                  </a:tcPr>
                </a:tc>
                <a:tc>
                  <a:txBody>
                    <a:bodyPr/>
                    <a:lstStyle/>
                    <a:p>
                      <a:pPr indent="0" marL="0">
                        <a:buNone/>
                      </a:pPr>
                      <a:r>
                        <a:rPr lang="en-US" sz="1600" b="1" dirty="0">
                          <a:solidFill>
                            <a:srgbClr val="FFFFFF"/>
                          </a:solidFill>
                          <a:latin typeface="Cambria" pitchFamily="34" charset="0"/>
                          <a:ea typeface="Cambria" pitchFamily="34" charset="-122"/>
                          <a:cs typeface="Cambria" pitchFamily="34" charset="-120"/>
                        </a:rPr>
                        <a:t>Surat tanpa QR</a:t>
                      </a:r>
                      <a:endParaRPr lang="en-US" sz="1600" dirty="0">
                        <a:latin typeface="Cambria" charset="0"/>
                        <a:ea typeface="Cambria" charset="0"/>
                        <a:cs typeface="Cambria" charset="0"/>
                      </a:endParaRPr>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006B3C"/>
                    </a:solidFill>
                  </a:tcPr>
                </a:tc>
              </a:tr>
              <a:tr h="566928">
                <a:tc>
                  <a:txBody>
                    <a:bodyPr/>
                    <a:lstStyle/>
                    <a:p>
                      <a:pPr indent="0" marL="0">
                        <a:buNone/>
                      </a:pPr>
                      <a:r>
                        <a:rPr lang="en-US" sz="1400" b="1" dirty="0">
                          <a:solidFill>
                            <a:srgbClr val="1B2A24"/>
                          </a:solidFill>
                        </a:rPr>
                        <a:t>Pengesahan</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EEF5F0"/>
                    </a:solidFill>
                  </a:tcPr>
                </a:tc>
                <a:tc>
                  <a:txBody>
                    <a:bodyPr/>
                    <a:lstStyle/>
                    <a:p>
                      <a:pPr indent="0" marL="0">
                        <a:buNone/>
                      </a:pPr>
                      <a:r>
                        <a:rPr lang="en-US" sz="1400" dirty="0">
                          <a:solidFill>
                            <a:srgbClr val="1B2A24"/>
                          </a:solidFill>
                        </a:rPr>
                        <a:t>Tanda tangan elektronik pejabat</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400" dirty="0">
                          <a:solidFill>
                            <a:srgbClr val="1B2A24"/>
                          </a:solidFill>
                        </a:rPr>
                        <a:t>Tanda tangan basah dan cap</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24"/>
                          </a:solidFill>
                        </a:rPr>
                        <a:t>Persetujuan di aplikasi</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EEF5F0"/>
                    </a:solidFill>
                  </a:tcPr>
                </a:tc>
                <a:tc>
                  <a:txBody>
                    <a:bodyPr/>
                    <a:lstStyle/>
                    <a:p>
                      <a:pPr indent="0" marL="0">
                        <a:buNone/>
                      </a:pPr>
                      <a:r>
                        <a:rPr lang="en-US" sz="1400" dirty="0">
                          <a:solidFill>
                            <a:srgbClr val="1B2A24"/>
                          </a:solidFill>
                        </a:rPr>
                        <a:t>Paraf (opsional), lalu tanda tangan pejabat</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400" dirty="0">
                          <a:solidFill>
                            <a:srgbClr val="1B2A24"/>
                          </a:solidFill>
                        </a:rPr>
                        <a:t>Tidak ada; langsung terbit</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r>
              <a:tr h="777240">
                <a:tc>
                  <a:txBody>
                    <a:bodyPr/>
                    <a:lstStyle/>
                    <a:p>
                      <a:pPr indent="0" marL="0">
                        <a:buNone/>
                      </a:pPr>
                      <a:r>
                        <a:rPr lang="en-US" sz="1400" b="1" dirty="0">
                          <a:solidFill>
                            <a:srgbClr val="1B2A24"/>
                          </a:solidFill>
                        </a:rPr>
                        <a:t>PDF</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EEF5F0"/>
                    </a:solidFill>
                  </a:tcPr>
                </a:tc>
                <a:tc>
                  <a:txBody>
                    <a:bodyPr/>
                    <a:lstStyle/>
                    <a:p>
                      <a:pPr indent="0" marL="0">
                        <a:buNone/>
                      </a:pPr>
                      <a:r>
                        <a:rPr lang="en-US" sz="1400" dirty="0">
                          <a:solidFill>
                            <a:srgbClr val="1B2A24"/>
                          </a:solidFill>
                        </a:rPr>
                        <a:t>2 halaman: surat + Lembar Riwayat Dokumen; QR dan spesimen tanda tangan</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400" dirty="0">
                          <a:solidFill>
                            <a:srgbClr val="1B2A24"/>
                          </a:solidFill>
                        </a:rPr>
                        <a:t>1 halaman; ruang tanda tangan dan stempel dikosongkan</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24"/>
                          </a:solidFill>
                        </a:rPr>
                        <a:t>Nomor</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EEF5F0"/>
                    </a:solidFill>
                  </a:tcPr>
                </a:tc>
                <a:tc>
                  <a:txBody>
                    <a:bodyPr/>
                    <a:lstStyle/>
                    <a:p>
                      <a:pPr indent="0" marL="0">
                        <a:buNone/>
                      </a:pPr>
                      <a:r>
                        <a:rPr lang="en-US" sz="1400" dirty="0">
                          <a:solidFill>
                            <a:srgbClr val="1B2A24"/>
                          </a:solidFill>
                        </a:rPr>
                        <a:t>Terbit saat tanda tangan</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400" dirty="0">
                          <a:solidFill>
                            <a:srgbClr val="1B2A24"/>
                          </a:solidFill>
                        </a:rPr>
                        <a:t>Terbit saat tombol Terbitkan Surat</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B2A24"/>
                          </a:solidFill>
                        </a:rPr>
                        <a:t>Verifikasi publik</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EEF5F0"/>
                    </a:solidFill>
                  </a:tcPr>
                </a:tc>
                <a:tc>
                  <a:txBody>
                    <a:bodyPr/>
                    <a:lstStyle/>
                    <a:p>
                      <a:pPr indent="0" marL="0">
                        <a:buNone/>
                      </a:pPr>
                      <a:r>
                        <a:rPr lang="en-US" sz="1400" dirty="0">
                          <a:solidFill>
                            <a:srgbClr val="1B2A24"/>
                          </a:solidFill>
                        </a:rPr>
                        <a:t>Ya, lewat QR</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c>
                  <a:txBody>
                    <a:bodyPr/>
                    <a:lstStyle/>
                    <a:p>
                      <a:pPr indent="0" marL="0">
                        <a:buNone/>
                      </a:pPr>
                      <a:r>
                        <a:rPr lang="en-US" sz="1400" dirty="0">
                          <a:solidFill>
                            <a:srgbClr val="1B2A24"/>
                          </a:solidFill>
                        </a:rPr>
                        <a:t>Tidak</a:t>
                      </a:r>
                      <a:endParaRPr lang="en-US" sz="1400" dirty="0"/>
                    </a:p>
                  </a:txBody>
                  <a:tcPr marL="137160" marR="137160" marT="45720" marB="45720" anchor="ctr">
                    <a:lnL w="12700" cap="flat" cmpd="sng" algn="ctr">
                      <a:solidFill>
                        <a:srgbClr val="D5E3DA"/>
                      </a:solidFill>
                      <a:prstDash val="solid"/>
                      <a:round/>
                      <a:headEnd type="none" w="med" len="med"/>
                      <a:tailEnd type="none" w="med" len="med"/>
                    </a:lnL>
                    <a:lnR w="12700" cap="flat" cmpd="sng" algn="ctr">
                      <a:solidFill>
                        <a:srgbClr val="D5E3DA"/>
                      </a:solidFill>
                      <a:prstDash val="solid"/>
                      <a:round/>
                      <a:headEnd type="none" w="med" len="med"/>
                      <a:tailEnd type="none" w="med" len="med"/>
                    </a:lnR>
                    <a:lnT w="12700" cap="flat" cmpd="sng" algn="ctr">
                      <a:solidFill>
                        <a:srgbClr val="D5E3DA"/>
                      </a:solidFill>
                      <a:prstDash val="solid"/>
                      <a:round/>
                      <a:headEnd type="none" w="med" len="med"/>
                      <a:tailEnd type="none" w="med" len="med"/>
                    </a:lnT>
                    <a:lnB w="12700" cap="flat" cmpd="sng" algn="ctr">
                      <a:solidFill>
                        <a:srgbClr val="D5E3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440680"/>
            <a:ext cx="11091672" cy="731520"/>
          </a:xfrm>
          <a:prstGeom prst="rect">
            <a:avLst/>
          </a:prstGeom>
          <a:noFill/>
          <a:ln/>
        </p:spPr>
        <p:txBody>
          <a:bodyPr wrap="square" lIns="0" tIns="0" rIns="0" bIns="0" rtlCol="0" anchor="t"/>
          <a:lstStyle/>
          <a:p>
            <a:pPr indent="0" marL="0">
              <a:buNone/>
            </a:pPr>
            <a:r>
              <a:rPr lang="en-US" sz="1500" dirty="0">
                <a:solidFill>
                  <a:srgbClr val="55645D"/>
                </a:solidFill>
              </a:rPr>
              <a:t>Pembuat surat memilih bentuk di awal; bawaannya mengikuti format surat. Surat yang sudah terbit tidak dihapus, tetapi dibatalkan dengan alasan, dan status batal tampil di halaman verifikasi.</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TU menyiapkan format surat tanpa coding</a:t>
            </a:r>
            <a:endParaRPr lang="en-US" sz="3400" dirty="0"/>
          </a:p>
        </p:txBody>
      </p:sp>
      <p:pic>
        <p:nvPicPr>
          <p:cNvPr id="3" name="Tangkapan layar" descr="Formulir mengubah format surat">    </p:cNvPr>
          <p:cNvPicPr>
            <a:picLocks noChangeAspect="1"/>
          </p:cNvPicPr>
          <p:nvPr/>
        </p:nvPicPr>
        <p:blipFill>
          <a:blip r:embed="rId1"/>
          <a:stretch>
            <a:fillRect/>
          </a:stretch>
        </p:blipFill>
        <p:spPr>
          <a:xfrm>
            <a:off x="5056632" y="1463040"/>
            <a:ext cx="6583680" cy="4114800"/>
          </a:xfrm>
          <a:prstGeom prst="rect">
            <a:avLst/>
          </a:prstGeom>
          <a:effectLst>
            <a:outerShdw sx="100000" sy="100000" kx="0" ky="0" algn="bl" rotWithShape="0" blurRad="101600" dist="25400" dir="5400000">
              <a:srgbClr val="000000">
                <a:alpha val="12000"/>
              </a:srgbClr>
            </a:outerShdw>
          </a:effectLst>
        </p:spPr>
      </p:pic>
      <p:sp>
        <p:nvSpPr>
          <p:cNvPr id="4" name="Daftar poin"/>
          <p:cNvSpPr txBox="1"/>
          <p:nvPr/>
        </p:nvSpPr>
        <p:spPr>
          <a:xfrm>
            <a:off x="548640" y="1554480"/>
            <a:ext cx="4050792" cy="438912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Surat untuk apa: </a:t>
            </a:r>
            <a:pPr indent="0" marL="0">
              <a:buNone/>
            </a:pPr>
            <a:r>
              <a:rPr lang="en-US" sz="1600" dirty="0">
                <a:solidFill>
                  <a:srgbClr val="1B2A24"/>
                </a:solidFill>
              </a:rPr>
              <a:t>staf, surat masuk, atau mahasiswa.</a:t>
            </a:r>
            <a:endParaRPr lang="en-US" sz="1600" dirty="0"/>
          </a:p>
          <a:p>
            <a:pPr marL="342900" indent="-342900">
              <a:spcAft>
                <a:spcPts val="1000"/>
              </a:spcAft>
              <a:buSzPct val="100000"/>
              <a:buChar char="•"/>
            </a:pPr>
            <a:r>
              <a:rPr lang="en-US" sz="1600" b="1" dirty="0">
                <a:solidFill>
                  <a:srgbClr val="1B2A24"/>
                </a:solidFill>
              </a:rPr>
              <a:t>Isian: </a:t>
            </a:r>
            <a:pPr indent="0" marL="0">
              <a:buNone/>
            </a:pPr>
            <a:r>
              <a:rPr lang="en-US" sz="1600" dirty="0">
                <a:solidFill>
                  <a:srgbClr val="1B2A24"/>
                </a:solidFill>
              </a:rPr>
              <a:t>teks, tanggal, angka, pilihan, daftar, dan tabel.</a:t>
            </a:r>
            <a:endParaRPr lang="en-US" sz="1600" dirty="0"/>
          </a:p>
          <a:p>
            <a:pPr marL="342900" indent="-342900">
              <a:spcAft>
                <a:spcPts val="1000"/>
              </a:spcAft>
              <a:buSzPct val="100000"/>
              <a:buChar char="•"/>
            </a:pPr>
            <a:r>
              <a:rPr lang="en-US" sz="1600" b="1" dirty="0">
                <a:solidFill>
                  <a:srgbClr val="1B2A24"/>
                </a:solidFill>
              </a:rPr>
              <a:t>Templat isi </a:t>
            </a:r>
            <a:pPr indent="0" marL="0">
              <a:buNone/>
            </a:pPr>
            <a:r>
              <a:rPr lang="en-US" sz="1600" dirty="0">
                <a:solidFill>
                  <a:srgbClr val="1B2A24"/>
                </a:solidFill>
              </a:rPr>
              <a:t>dengan pratinjau dan posisi tanda tangan.</a:t>
            </a:r>
            <a:endParaRPr lang="en-US" sz="1600" dirty="0"/>
          </a:p>
          <a:p>
            <a:pPr marL="342900" indent="-342900">
              <a:spcAft>
                <a:spcPts val="1000"/>
              </a:spcAft>
              <a:buSzPct val="100000"/>
              <a:buChar char="•"/>
            </a:pPr>
            <a:r>
              <a:rPr lang="en-US" sz="1600" b="1" dirty="0">
                <a:solidFill>
                  <a:srgbClr val="1B2A24"/>
                </a:solidFill>
              </a:rPr>
              <a:t>Aturan alur: </a:t>
            </a:r>
            <a:pPr indent="0" marL="0">
              <a:buNone/>
            </a:pPr>
            <a:r>
              <a:rPr lang="en-US" sz="1600" dirty="0">
                <a:solidFill>
                  <a:srgbClr val="1B2A24"/>
                </a:solidFill>
              </a:rPr>
              <a:t>pemverifikasi, paraf, penandatangan, tenggat.</a:t>
            </a:r>
            <a:endParaRPr lang="en-US" sz="1600" dirty="0"/>
          </a:p>
          <a:p>
            <a:pPr marL="342900" indent="-342900">
              <a:spcAft>
                <a:spcPts val="1000"/>
              </a:spcAft>
              <a:buSzPct val="100000"/>
              <a:buChar char="•"/>
            </a:pPr>
            <a:r>
              <a:rPr lang="en-US" sz="1600" b="1" dirty="0">
                <a:solidFill>
                  <a:srgbClr val="1B2A24"/>
                </a:solidFill>
              </a:rPr>
              <a:t>Penomoran: </a:t>
            </a:r>
            <a:pPr indent="0" marL="0">
              <a:buNone/>
            </a:pPr>
            <a:r>
              <a:rPr lang="en-US" sz="1600" dirty="0">
                <a:solidFill>
                  <a:srgbClr val="1B2A24"/>
                </a:solidFill>
              </a:rPr>
              <a:t>seruan dan pokok masalah.</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Simulasi: TU membuat surat undangan</a:t>
            </a:r>
            <a:endParaRPr lang="en-US" sz="3400" dirty="0"/>
          </a:p>
        </p:txBody>
      </p:sp>
      <p:sp>
        <p:nvSpPr>
          <p:cNvPr id="3" name="Nomor langkah"/>
          <p:cNvSpPr/>
          <p:nvPr/>
        </p:nvSpPr>
        <p:spPr>
          <a:xfrm>
            <a:off x="548640" y="1417320"/>
            <a:ext cx="457200" cy="457200"/>
          </a:xfrm>
          <a:prstGeom prst="ellipse">
            <a:avLst/>
          </a:prstGeom>
          <a:solidFill>
            <a:srgbClr val="006B3C"/>
          </a:solidFill>
          <a:ln w="12700">
            <a:solidFill>
              <a:srgbClr val="006B3C"/>
            </a:solidFill>
            <a:prstDash val="solid"/>
          </a:ln>
        </p:spPr>
      </p:sp>
      <p:sp>
        <p:nvSpPr>
          <p:cNvPr id="4"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143000"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Isi formulir, pratinjau ikut berubah</a:t>
            </a:r>
            <a:endParaRPr lang="en-US" sz="1900" dirty="0"/>
          </a:p>
        </p:txBody>
      </p:sp>
      <p:pic>
        <p:nvPicPr>
          <p:cNvPr id="6" name="Tangkapan simulasi" descr="Formulir Surat Undangan terisi dengan pratinjau A4 di sebelah kanan">    </p:cNvPr>
          <p:cNvPicPr>
            <a:picLocks noChangeAspect="1"/>
          </p:cNvPicPr>
          <p:nvPr/>
        </p:nvPicPr>
        <p:blipFill>
          <a:blip r:embed="rId1"/>
          <a:stretch>
            <a:fillRect/>
          </a:stretch>
        </p:blipFill>
        <p:spPr>
          <a:xfrm>
            <a:off x="548640" y="2057400"/>
            <a:ext cx="5394960" cy="3371850"/>
          </a:xfrm>
          <a:prstGeom prst="rect">
            <a:avLst/>
          </a:prstGeom>
          <a:effectLst>
            <a:outerShdw sx="100000" sy="100000" kx="0" ky="0" algn="bl" rotWithShape="0" blurRad="101600" dist="25400" dir="5400000">
              <a:srgbClr val="000000">
                <a:alpha val="12000"/>
              </a:srgbClr>
            </a:outerShdw>
          </a:effectLst>
        </p:spPr>
      </p:pic>
      <p:sp>
        <p:nvSpPr>
          <p:cNvPr id="7" name="Nomor langkah"/>
          <p:cNvSpPr/>
          <p:nvPr/>
        </p:nvSpPr>
        <p:spPr>
          <a:xfrm>
            <a:off x="6245352" y="1417320"/>
            <a:ext cx="457200" cy="457200"/>
          </a:xfrm>
          <a:prstGeom prst="ellipse">
            <a:avLst/>
          </a:prstGeom>
          <a:solidFill>
            <a:srgbClr val="006B3C"/>
          </a:solidFill>
          <a:ln w="12700">
            <a:solidFill>
              <a:srgbClr val="006B3C"/>
            </a:solidFill>
            <a:prstDash val="solid"/>
          </a:ln>
        </p:spPr>
      </p:sp>
      <p:sp>
        <p:nvSpPr>
          <p:cNvPr id="8" name="Text 5"/>
          <p:cNvSpPr txBox="1"/>
          <p:nvPr/>
        </p:nvSpPr>
        <p:spPr>
          <a:xfrm>
            <a:off x="6245352"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6"/>
          <p:cNvSpPr txBox="1"/>
          <p:nvPr/>
        </p:nvSpPr>
        <p:spPr>
          <a:xfrm>
            <a:off x="6839712" y="1417320"/>
            <a:ext cx="4800600"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Ajukan untuk tanda tangan</a:t>
            </a:r>
            <a:endParaRPr lang="en-US" sz="1900" dirty="0"/>
          </a:p>
        </p:txBody>
      </p:sp>
      <p:pic>
        <p:nvPicPr>
          <p:cNvPr id="10" name="Tangkapan simulasi" descr="Surat diajukan: status Menunggu TTD dengan tahapan surat">    </p:cNvPr>
          <p:cNvPicPr>
            <a:picLocks noChangeAspect="1"/>
          </p:cNvPicPr>
          <p:nvPr/>
        </p:nvPicPr>
        <p:blipFill>
          <a:blip r:embed="rId2"/>
          <a:stretch>
            <a:fillRect/>
          </a:stretch>
        </p:blipFill>
        <p:spPr>
          <a:xfrm>
            <a:off x="6245352" y="2057400"/>
            <a:ext cx="5394960" cy="3371850"/>
          </a:xfrm>
          <a:prstGeom prst="rect">
            <a:avLst/>
          </a:prstGeom>
          <a:effectLst>
            <a:outerShdw sx="100000" sy="100000" kx="0" ky="0" algn="bl" rotWithShape="0" blurRad="101600" dist="25400" dir="5400000">
              <a:srgbClr val="000000">
                <a:alpha val="12000"/>
              </a:srgbClr>
            </a:outerShdw>
          </a:effectLst>
        </p:spPr>
      </p:pic>
      <p:sp>
        <p:nvSpPr>
          <p:cNvPr id="11" name="Text 7"/>
          <p:cNvSpPr txBox="1"/>
          <p:nvPr/>
        </p:nvSpPr>
        <p:spPr>
          <a:xfrm>
            <a:off x="548640" y="5566410"/>
            <a:ext cx="5394960" cy="685800"/>
          </a:xfrm>
          <a:prstGeom prst="rect">
            <a:avLst/>
          </a:prstGeom>
          <a:noFill/>
          <a:ln/>
        </p:spPr>
        <p:txBody>
          <a:bodyPr wrap="square" lIns="0" tIns="0" rIns="0" bIns="0" rtlCol="0" anchor="t"/>
          <a:lstStyle/>
          <a:p>
            <a:pPr indent="0" marL="0">
              <a:buNone/>
            </a:pPr>
            <a:r>
              <a:rPr lang="en-US" sz="1500" dirty="0">
                <a:solidFill>
                  <a:srgbClr val="1B2A24"/>
                </a:solidFill>
              </a:rPr>
              <a:t>Nomor 9, tanggal 2 November 2026 (Hijriah tampil otomatis), tujuan, perihal, hari, waktu, dan tempat rapat.</a:t>
            </a:r>
            <a:endParaRPr lang="en-US" sz="1500" dirty="0"/>
          </a:p>
        </p:txBody>
      </p:sp>
      <p:sp>
        <p:nvSpPr>
          <p:cNvPr id="12" name="Text 8"/>
          <p:cNvSpPr txBox="1"/>
          <p:nvPr/>
        </p:nvSpPr>
        <p:spPr>
          <a:xfrm>
            <a:off x="6245352" y="5566410"/>
            <a:ext cx="5394960" cy="685800"/>
          </a:xfrm>
          <a:prstGeom prst="rect">
            <a:avLst/>
          </a:prstGeom>
          <a:noFill/>
          <a:ln/>
        </p:spPr>
        <p:txBody>
          <a:bodyPr wrap="square" lIns="0" tIns="0" rIns="0" bIns="0" rtlCol="0" anchor="t"/>
          <a:lstStyle/>
          <a:p>
            <a:pPr indent="0" marL="0">
              <a:buNone/>
            </a:pPr>
            <a:r>
              <a:rPr lang="en-US" sz="1500" dirty="0">
                <a:solidFill>
                  <a:srgbClr val="1B2A24"/>
                </a:solidFill>
              </a:rPr>
              <a:t>Status Menunggu TTD. Nomor yang akan terbit: 009/II.3.AU/UMB-06/A/2026; tahapan surat tampil di kanan.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Nomor surat mengikuti pedoman UM Buton</a:t>
            </a:r>
            <a:endParaRPr lang="en-US" sz="3400" dirty="0"/>
          </a:p>
        </p:txBody>
      </p:sp>
      <p:sp>
        <p:nvSpPr>
          <p:cNvPr id="3" name="Bagian nomor"/>
          <p:cNvSpPr/>
          <p:nvPr/>
        </p:nvSpPr>
        <p:spPr>
          <a:xfrm>
            <a:off x="585216" y="1554480"/>
            <a:ext cx="1280160" cy="868680"/>
          </a:xfrm>
          <a:prstGeom prst="roundRect">
            <a:avLst>
              <a:gd name="adj" fmla="val 10526"/>
            </a:avLst>
          </a:prstGeom>
          <a:solidFill>
            <a:srgbClr val="FDB913"/>
          </a:solidFill>
          <a:ln w="12700">
            <a:solidFill>
              <a:srgbClr val="FDB913"/>
            </a:solidFill>
            <a:prstDash val="solid"/>
          </a:ln>
        </p:spPr>
      </p:sp>
      <p:sp>
        <p:nvSpPr>
          <p:cNvPr id="4" name="Text 2"/>
          <p:cNvSpPr txBox="1"/>
          <p:nvPr/>
        </p:nvSpPr>
        <p:spPr>
          <a:xfrm>
            <a:off x="585216" y="1554480"/>
            <a:ext cx="1280160" cy="868680"/>
          </a:xfrm>
          <a:prstGeom prst="rect">
            <a:avLst/>
          </a:prstGeom>
          <a:noFill/>
          <a:ln/>
        </p:spPr>
        <p:txBody>
          <a:bodyPr wrap="square" lIns="0" tIns="0" rIns="0" bIns="0" rtlCol="0" anchor="ctr"/>
          <a:lstStyle/>
          <a:p>
            <a:pPr algn="ctr" indent="0" marL="0">
              <a:buNone/>
            </a:pPr>
            <a:r>
              <a:rPr lang="en-US" sz="2400" b="1" dirty="0">
                <a:solidFill>
                  <a:srgbClr val="1B2A24"/>
                </a:solidFill>
                <a:latin typeface="Cambria" pitchFamily="34" charset="0"/>
                <a:ea typeface="Cambria" pitchFamily="34" charset="-122"/>
                <a:cs typeface="Cambria" pitchFamily="34" charset="-120"/>
              </a:rPr>
              <a:t>007</a:t>
            </a:r>
            <a:endParaRPr lang="en-US" sz="2400" dirty="0"/>
          </a:p>
        </p:txBody>
      </p:sp>
      <p:sp>
        <p:nvSpPr>
          <p:cNvPr id="5" name="Text 3"/>
          <p:cNvSpPr txBox="1"/>
          <p:nvPr/>
        </p:nvSpPr>
        <p:spPr>
          <a:xfrm>
            <a:off x="493776" y="2514600"/>
            <a:ext cx="1463040" cy="320040"/>
          </a:xfrm>
          <a:prstGeom prst="rect">
            <a:avLst/>
          </a:prstGeom>
          <a:noFill/>
          <a:ln/>
        </p:spPr>
        <p:txBody>
          <a:bodyPr wrap="square" lIns="0" tIns="0" rIns="0" bIns="0" rtlCol="0" anchor="ctr"/>
          <a:lstStyle/>
          <a:p>
            <a:pPr algn="ctr" indent="0" marL="0">
              <a:buNone/>
            </a:pPr>
            <a:r>
              <a:rPr lang="en-US" sz="1400" b="1" dirty="0">
                <a:solidFill>
                  <a:srgbClr val="004D2C"/>
                </a:solidFill>
              </a:rPr>
              <a:t>urut</a:t>
            </a:r>
            <a:endParaRPr lang="en-US" sz="1400" dirty="0"/>
          </a:p>
        </p:txBody>
      </p:sp>
      <p:sp>
        <p:nvSpPr>
          <p:cNvPr id="6" name="Text 4"/>
          <p:cNvSpPr txBox="1"/>
          <p:nvPr/>
        </p:nvSpPr>
        <p:spPr>
          <a:xfrm>
            <a:off x="493776" y="2816352"/>
            <a:ext cx="1463040" cy="548640"/>
          </a:xfrm>
          <a:prstGeom prst="rect">
            <a:avLst/>
          </a:prstGeom>
          <a:noFill/>
          <a:ln/>
        </p:spPr>
        <p:txBody>
          <a:bodyPr wrap="square" lIns="0" tIns="0" rIns="0" bIns="0" rtlCol="0" anchor="t"/>
          <a:lstStyle/>
          <a:p>
            <a:pPr algn="ctr" indent="0" marL="0">
              <a:buNone/>
            </a:pPr>
            <a:r>
              <a:rPr lang="en-US" sz="1200" dirty="0">
                <a:solidFill>
                  <a:srgbClr val="55645D"/>
                </a:solidFill>
              </a:rPr>
              <a:t>per unit kerja per tahun</a:t>
            </a:r>
            <a:endParaRPr lang="en-US" sz="1200" dirty="0"/>
          </a:p>
        </p:txBody>
      </p:sp>
      <p:sp>
        <p:nvSpPr>
          <p:cNvPr id="7" name="Text 5"/>
          <p:cNvSpPr txBox="1"/>
          <p:nvPr/>
        </p:nvSpPr>
        <p:spPr>
          <a:xfrm>
            <a:off x="1911096" y="1554480"/>
            <a:ext cx="320040" cy="868680"/>
          </a:xfrm>
          <a:prstGeom prst="rect">
            <a:avLst/>
          </a:prstGeom>
          <a:noFill/>
          <a:ln/>
        </p:spPr>
        <p:txBody>
          <a:bodyPr wrap="square" lIns="0" tIns="0" rIns="0" bIns="0" rtlCol="0" anchor="ctr"/>
          <a:lstStyle/>
          <a:p>
            <a:pPr algn="ctr" indent="0" marL="0">
              <a:buNone/>
            </a:pPr>
            <a:r>
              <a:rPr lang="en-US" sz="2600" dirty="0">
                <a:solidFill>
                  <a:srgbClr val="55645D"/>
                </a:solidFill>
              </a:rPr>
              <a:t>/</a:t>
            </a:r>
            <a:endParaRPr lang="en-US" sz="2600" dirty="0"/>
          </a:p>
        </p:txBody>
      </p:sp>
      <p:sp>
        <p:nvSpPr>
          <p:cNvPr id="8" name="Bagian nomor"/>
          <p:cNvSpPr/>
          <p:nvPr/>
        </p:nvSpPr>
        <p:spPr>
          <a:xfrm>
            <a:off x="2276856" y="1554480"/>
            <a:ext cx="1280160" cy="868680"/>
          </a:xfrm>
          <a:prstGeom prst="roundRect">
            <a:avLst>
              <a:gd name="adj" fmla="val 10526"/>
            </a:avLst>
          </a:prstGeom>
          <a:solidFill>
            <a:srgbClr val="004D2C"/>
          </a:solidFill>
          <a:ln w="12700">
            <a:solidFill>
              <a:srgbClr val="004D2C"/>
            </a:solidFill>
            <a:prstDash val="solid"/>
          </a:ln>
        </p:spPr>
      </p:sp>
      <p:sp>
        <p:nvSpPr>
          <p:cNvPr id="9" name="Text 7"/>
          <p:cNvSpPr txBox="1"/>
          <p:nvPr/>
        </p:nvSpPr>
        <p:spPr>
          <a:xfrm>
            <a:off x="2276856" y="1554480"/>
            <a:ext cx="128016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KET</a:t>
            </a:r>
            <a:endParaRPr lang="en-US" sz="2400" dirty="0"/>
          </a:p>
        </p:txBody>
      </p:sp>
      <p:sp>
        <p:nvSpPr>
          <p:cNvPr id="10" name="Text 8"/>
          <p:cNvSpPr txBox="1"/>
          <p:nvPr/>
        </p:nvSpPr>
        <p:spPr>
          <a:xfrm>
            <a:off x="2185416" y="2514600"/>
            <a:ext cx="1463040" cy="320040"/>
          </a:xfrm>
          <a:prstGeom prst="rect">
            <a:avLst/>
          </a:prstGeom>
          <a:noFill/>
          <a:ln/>
        </p:spPr>
        <p:txBody>
          <a:bodyPr wrap="square" lIns="0" tIns="0" rIns="0" bIns="0" rtlCol="0" anchor="ctr"/>
          <a:lstStyle/>
          <a:p>
            <a:pPr algn="ctr" indent="0" marL="0">
              <a:buNone/>
            </a:pPr>
            <a:r>
              <a:rPr lang="en-US" sz="1400" b="1" dirty="0">
                <a:solidFill>
                  <a:srgbClr val="004D2C"/>
                </a:solidFill>
              </a:rPr>
              <a:t>seruan</a:t>
            </a:r>
            <a:endParaRPr lang="en-US" sz="1400" dirty="0"/>
          </a:p>
        </p:txBody>
      </p:sp>
      <p:sp>
        <p:nvSpPr>
          <p:cNvPr id="11" name="Text 9"/>
          <p:cNvSpPr txBox="1"/>
          <p:nvPr/>
        </p:nvSpPr>
        <p:spPr>
          <a:xfrm>
            <a:off x="2185416" y="2816352"/>
            <a:ext cx="1463040" cy="548640"/>
          </a:xfrm>
          <a:prstGeom prst="rect">
            <a:avLst/>
          </a:prstGeom>
          <a:noFill/>
          <a:ln/>
        </p:spPr>
        <p:txBody>
          <a:bodyPr wrap="square" lIns="0" tIns="0" rIns="0" bIns="0" rtlCol="0" anchor="t"/>
          <a:lstStyle/>
          <a:p>
            <a:pPr algn="ctr" indent="0" marL="0">
              <a:buNone/>
            </a:pPr>
            <a:r>
              <a:rPr lang="en-US" sz="1200" dirty="0">
                <a:solidFill>
                  <a:srgbClr val="55645D"/>
                </a:solidFill>
              </a:rPr>
              <a:t>kode kekhususan</a:t>
            </a:r>
            <a:endParaRPr lang="en-US" sz="1200" dirty="0"/>
          </a:p>
        </p:txBody>
      </p:sp>
      <p:sp>
        <p:nvSpPr>
          <p:cNvPr id="12" name="Text 10"/>
          <p:cNvSpPr txBox="1"/>
          <p:nvPr/>
        </p:nvSpPr>
        <p:spPr>
          <a:xfrm>
            <a:off x="3602736" y="1554480"/>
            <a:ext cx="320040" cy="868680"/>
          </a:xfrm>
          <a:prstGeom prst="rect">
            <a:avLst/>
          </a:prstGeom>
          <a:noFill/>
          <a:ln/>
        </p:spPr>
        <p:txBody>
          <a:bodyPr wrap="square" lIns="0" tIns="0" rIns="0" bIns="0" rtlCol="0" anchor="ctr"/>
          <a:lstStyle/>
          <a:p>
            <a:pPr algn="ctr" indent="0" marL="0">
              <a:buNone/>
            </a:pPr>
            <a:r>
              <a:rPr lang="en-US" sz="2600" dirty="0">
                <a:solidFill>
                  <a:srgbClr val="55645D"/>
                </a:solidFill>
              </a:rPr>
              <a:t>/</a:t>
            </a:r>
            <a:endParaRPr lang="en-US" sz="2600" dirty="0"/>
          </a:p>
        </p:txBody>
      </p:sp>
      <p:sp>
        <p:nvSpPr>
          <p:cNvPr id="13" name="Bagian nomor"/>
          <p:cNvSpPr/>
          <p:nvPr/>
        </p:nvSpPr>
        <p:spPr>
          <a:xfrm>
            <a:off x="3968496" y="1554480"/>
            <a:ext cx="1737360" cy="868680"/>
          </a:xfrm>
          <a:prstGeom prst="roundRect">
            <a:avLst>
              <a:gd name="adj" fmla="val 10526"/>
            </a:avLst>
          </a:prstGeom>
          <a:solidFill>
            <a:srgbClr val="004D2C"/>
          </a:solidFill>
          <a:ln w="12700">
            <a:solidFill>
              <a:srgbClr val="004D2C"/>
            </a:solidFill>
            <a:prstDash val="solid"/>
          </a:ln>
        </p:spPr>
      </p:sp>
      <p:sp>
        <p:nvSpPr>
          <p:cNvPr id="14" name="Text 12"/>
          <p:cNvSpPr txBox="1"/>
          <p:nvPr/>
        </p:nvSpPr>
        <p:spPr>
          <a:xfrm>
            <a:off x="3968496" y="1554480"/>
            <a:ext cx="173736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II.3.AU</a:t>
            </a:r>
            <a:endParaRPr lang="en-US" sz="2400" dirty="0"/>
          </a:p>
        </p:txBody>
      </p:sp>
      <p:sp>
        <p:nvSpPr>
          <p:cNvPr id="15" name="Text 13"/>
          <p:cNvSpPr txBox="1"/>
          <p:nvPr/>
        </p:nvSpPr>
        <p:spPr>
          <a:xfrm>
            <a:off x="3877056" y="2514600"/>
            <a:ext cx="1920240" cy="320040"/>
          </a:xfrm>
          <a:prstGeom prst="rect">
            <a:avLst/>
          </a:prstGeom>
          <a:noFill/>
          <a:ln/>
        </p:spPr>
        <p:txBody>
          <a:bodyPr wrap="square" lIns="0" tIns="0" rIns="0" bIns="0" rtlCol="0" anchor="ctr"/>
          <a:lstStyle/>
          <a:p>
            <a:pPr algn="ctr" indent="0" marL="0">
              <a:buNone/>
            </a:pPr>
            <a:r>
              <a:rPr lang="en-US" sz="1400" b="1" dirty="0">
                <a:solidFill>
                  <a:srgbClr val="004D2C"/>
                </a:solidFill>
              </a:rPr>
              <a:t>tetap</a:t>
            </a:r>
            <a:endParaRPr lang="en-US" sz="1400" dirty="0"/>
          </a:p>
        </p:txBody>
      </p:sp>
      <p:sp>
        <p:nvSpPr>
          <p:cNvPr id="16" name="Text 14"/>
          <p:cNvSpPr txBox="1"/>
          <p:nvPr/>
        </p:nvSpPr>
        <p:spPr>
          <a:xfrm>
            <a:off x="3877056" y="2816352"/>
            <a:ext cx="1920240" cy="548640"/>
          </a:xfrm>
          <a:prstGeom prst="rect">
            <a:avLst/>
          </a:prstGeom>
          <a:noFill/>
          <a:ln/>
        </p:spPr>
        <p:txBody>
          <a:bodyPr wrap="square" lIns="0" tIns="0" rIns="0" bIns="0" rtlCol="0" anchor="t"/>
          <a:lstStyle/>
          <a:p>
            <a:pPr algn="ctr" indent="0" marL="0">
              <a:buNone/>
            </a:pPr>
            <a:r>
              <a:rPr lang="en-US" sz="1200" dirty="0">
                <a:solidFill>
                  <a:srgbClr val="55645D"/>
                </a:solidFill>
              </a:rPr>
              <a:t>kode tata naskah</a:t>
            </a:r>
            <a:endParaRPr lang="en-US" sz="1200" dirty="0"/>
          </a:p>
        </p:txBody>
      </p:sp>
      <p:sp>
        <p:nvSpPr>
          <p:cNvPr id="17" name="Text 15"/>
          <p:cNvSpPr txBox="1"/>
          <p:nvPr/>
        </p:nvSpPr>
        <p:spPr>
          <a:xfrm>
            <a:off x="5751576" y="1554480"/>
            <a:ext cx="320040" cy="868680"/>
          </a:xfrm>
          <a:prstGeom prst="rect">
            <a:avLst/>
          </a:prstGeom>
          <a:noFill/>
          <a:ln/>
        </p:spPr>
        <p:txBody>
          <a:bodyPr wrap="square" lIns="0" tIns="0" rIns="0" bIns="0" rtlCol="0" anchor="ctr"/>
          <a:lstStyle/>
          <a:p>
            <a:pPr algn="ctr" indent="0" marL="0">
              <a:buNone/>
            </a:pPr>
            <a:r>
              <a:rPr lang="en-US" sz="2600" dirty="0">
                <a:solidFill>
                  <a:srgbClr val="55645D"/>
                </a:solidFill>
              </a:rPr>
              <a:t>/</a:t>
            </a:r>
            <a:endParaRPr lang="en-US" sz="2600" dirty="0"/>
          </a:p>
        </p:txBody>
      </p:sp>
      <p:sp>
        <p:nvSpPr>
          <p:cNvPr id="18" name="Bagian nomor"/>
          <p:cNvSpPr/>
          <p:nvPr/>
        </p:nvSpPr>
        <p:spPr>
          <a:xfrm>
            <a:off x="6117336" y="1554480"/>
            <a:ext cx="2011680" cy="868680"/>
          </a:xfrm>
          <a:prstGeom prst="roundRect">
            <a:avLst>
              <a:gd name="adj" fmla="val 10526"/>
            </a:avLst>
          </a:prstGeom>
          <a:solidFill>
            <a:srgbClr val="004D2C"/>
          </a:solidFill>
          <a:ln w="12700">
            <a:solidFill>
              <a:srgbClr val="004D2C"/>
            </a:solidFill>
            <a:prstDash val="solid"/>
          </a:ln>
        </p:spPr>
      </p:sp>
      <p:sp>
        <p:nvSpPr>
          <p:cNvPr id="19" name="Text 17"/>
          <p:cNvSpPr txBox="1"/>
          <p:nvPr/>
        </p:nvSpPr>
        <p:spPr>
          <a:xfrm>
            <a:off x="6117336" y="1554480"/>
            <a:ext cx="201168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UMB-06.2</a:t>
            </a:r>
            <a:endParaRPr lang="en-US" sz="2400" dirty="0"/>
          </a:p>
        </p:txBody>
      </p:sp>
      <p:sp>
        <p:nvSpPr>
          <p:cNvPr id="20" name="Text 18"/>
          <p:cNvSpPr txBox="1"/>
          <p:nvPr/>
        </p:nvSpPr>
        <p:spPr>
          <a:xfrm>
            <a:off x="6025896" y="2514600"/>
            <a:ext cx="2194560" cy="320040"/>
          </a:xfrm>
          <a:prstGeom prst="rect">
            <a:avLst/>
          </a:prstGeom>
          <a:noFill/>
          <a:ln/>
        </p:spPr>
        <p:txBody>
          <a:bodyPr wrap="square" lIns="0" tIns="0" rIns="0" bIns="0" rtlCol="0" anchor="ctr"/>
          <a:lstStyle/>
          <a:p>
            <a:pPr algn="ctr" indent="0" marL="0">
              <a:buNone/>
            </a:pPr>
            <a:r>
              <a:rPr lang="en-US" sz="1400" b="1" dirty="0">
                <a:solidFill>
                  <a:srgbClr val="004D2C"/>
                </a:solidFill>
              </a:rPr>
              <a:t>unit kerja</a:t>
            </a:r>
            <a:endParaRPr lang="en-US" sz="1400" dirty="0"/>
          </a:p>
        </p:txBody>
      </p:sp>
      <p:sp>
        <p:nvSpPr>
          <p:cNvPr id="21" name="Text 19"/>
          <p:cNvSpPr txBox="1"/>
          <p:nvPr/>
        </p:nvSpPr>
        <p:spPr>
          <a:xfrm>
            <a:off x="6025896" y="2816352"/>
            <a:ext cx="2194560" cy="548640"/>
          </a:xfrm>
          <a:prstGeom prst="rect">
            <a:avLst/>
          </a:prstGeom>
          <a:noFill/>
          <a:ln/>
        </p:spPr>
        <p:txBody>
          <a:bodyPr wrap="square" lIns="0" tIns="0" rIns="0" bIns="0" rtlCol="0" anchor="t"/>
          <a:lstStyle/>
          <a:p>
            <a:pPr algn="ctr" indent="0" marL="0">
              <a:buNone/>
            </a:pPr>
            <a:r>
              <a:rPr lang="en-US" sz="1200" dirty="0">
                <a:solidFill>
                  <a:srgbClr val="55645D"/>
                </a:solidFill>
              </a:rPr>
              <a:t>prodi atau fakultas</a:t>
            </a:r>
            <a:endParaRPr lang="en-US" sz="1200" dirty="0"/>
          </a:p>
        </p:txBody>
      </p:sp>
      <p:sp>
        <p:nvSpPr>
          <p:cNvPr id="22" name="Text 20"/>
          <p:cNvSpPr txBox="1"/>
          <p:nvPr/>
        </p:nvSpPr>
        <p:spPr>
          <a:xfrm>
            <a:off x="8174736" y="1554480"/>
            <a:ext cx="320040" cy="868680"/>
          </a:xfrm>
          <a:prstGeom prst="rect">
            <a:avLst/>
          </a:prstGeom>
          <a:noFill/>
          <a:ln/>
        </p:spPr>
        <p:txBody>
          <a:bodyPr wrap="square" lIns="0" tIns="0" rIns="0" bIns="0" rtlCol="0" anchor="ctr"/>
          <a:lstStyle/>
          <a:p>
            <a:pPr algn="ctr" indent="0" marL="0">
              <a:buNone/>
            </a:pPr>
            <a:r>
              <a:rPr lang="en-US" sz="2600" dirty="0">
                <a:solidFill>
                  <a:srgbClr val="55645D"/>
                </a:solidFill>
              </a:rPr>
              <a:t>/</a:t>
            </a:r>
            <a:endParaRPr lang="en-US" sz="2600" dirty="0"/>
          </a:p>
        </p:txBody>
      </p:sp>
      <p:sp>
        <p:nvSpPr>
          <p:cNvPr id="23" name="Bagian nomor"/>
          <p:cNvSpPr/>
          <p:nvPr/>
        </p:nvSpPr>
        <p:spPr>
          <a:xfrm>
            <a:off x="8540496" y="1554480"/>
            <a:ext cx="1280160" cy="868680"/>
          </a:xfrm>
          <a:prstGeom prst="roundRect">
            <a:avLst>
              <a:gd name="adj" fmla="val 10526"/>
            </a:avLst>
          </a:prstGeom>
          <a:solidFill>
            <a:srgbClr val="004D2C"/>
          </a:solidFill>
          <a:ln w="12700">
            <a:solidFill>
              <a:srgbClr val="004D2C"/>
            </a:solidFill>
            <a:prstDash val="solid"/>
          </a:ln>
        </p:spPr>
      </p:sp>
      <p:sp>
        <p:nvSpPr>
          <p:cNvPr id="24" name="Text 22"/>
          <p:cNvSpPr txBox="1"/>
          <p:nvPr/>
        </p:nvSpPr>
        <p:spPr>
          <a:xfrm>
            <a:off x="8540496" y="1554480"/>
            <a:ext cx="128016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F</a:t>
            </a:r>
            <a:endParaRPr lang="en-US" sz="2400" dirty="0"/>
          </a:p>
        </p:txBody>
      </p:sp>
      <p:sp>
        <p:nvSpPr>
          <p:cNvPr id="25" name="Text 23"/>
          <p:cNvSpPr txBox="1"/>
          <p:nvPr/>
        </p:nvSpPr>
        <p:spPr>
          <a:xfrm>
            <a:off x="8449056" y="2514600"/>
            <a:ext cx="1463040" cy="320040"/>
          </a:xfrm>
          <a:prstGeom prst="rect">
            <a:avLst/>
          </a:prstGeom>
          <a:noFill/>
          <a:ln/>
        </p:spPr>
        <p:txBody>
          <a:bodyPr wrap="square" lIns="0" tIns="0" rIns="0" bIns="0" rtlCol="0" anchor="ctr"/>
          <a:lstStyle/>
          <a:p>
            <a:pPr algn="ctr" indent="0" marL="0">
              <a:buNone/>
            </a:pPr>
            <a:r>
              <a:rPr lang="en-US" sz="1400" b="1" dirty="0">
                <a:solidFill>
                  <a:srgbClr val="004D2C"/>
                </a:solidFill>
              </a:rPr>
              <a:t>pokok masalah</a:t>
            </a:r>
            <a:endParaRPr lang="en-US" sz="1400" dirty="0"/>
          </a:p>
        </p:txBody>
      </p:sp>
      <p:sp>
        <p:nvSpPr>
          <p:cNvPr id="26" name="Text 24"/>
          <p:cNvSpPr txBox="1"/>
          <p:nvPr/>
        </p:nvSpPr>
        <p:spPr>
          <a:xfrm>
            <a:off x="8449056" y="2816352"/>
            <a:ext cx="1463040" cy="548640"/>
          </a:xfrm>
          <a:prstGeom prst="rect">
            <a:avLst/>
          </a:prstGeom>
          <a:noFill/>
          <a:ln/>
        </p:spPr>
        <p:txBody>
          <a:bodyPr wrap="square" lIns="0" tIns="0" rIns="0" bIns="0" rtlCol="0" anchor="t"/>
          <a:lstStyle/>
          <a:p>
            <a:pPr algn="ctr" indent="0" marL="0">
              <a:buNone/>
            </a:pPr>
            <a:r>
              <a:rPr lang="en-US" sz="1200" dirty="0">
                <a:solidFill>
                  <a:srgbClr val="55645D"/>
                </a:solidFill>
              </a:rPr>
              <a:t>klasifikasi A sampai O</a:t>
            </a:r>
            <a:endParaRPr lang="en-US" sz="1200" dirty="0"/>
          </a:p>
        </p:txBody>
      </p:sp>
      <p:sp>
        <p:nvSpPr>
          <p:cNvPr id="27" name="Text 25"/>
          <p:cNvSpPr txBox="1"/>
          <p:nvPr/>
        </p:nvSpPr>
        <p:spPr>
          <a:xfrm>
            <a:off x="9866376" y="1554480"/>
            <a:ext cx="320040" cy="868680"/>
          </a:xfrm>
          <a:prstGeom prst="rect">
            <a:avLst/>
          </a:prstGeom>
          <a:noFill/>
          <a:ln/>
        </p:spPr>
        <p:txBody>
          <a:bodyPr wrap="square" lIns="0" tIns="0" rIns="0" bIns="0" rtlCol="0" anchor="ctr"/>
          <a:lstStyle/>
          <a:p>
            <a:pPr algn="ctr" indent="0" marL="0">
              <a:buNone/>
            </a:pPr>
            <a:r>
              <a:rPr lang="en-US" sz="2600" dirty="0">
                <a:solidFill>
                  <a:srgbClr val="55645D"/>
                </a:solidFill>
              </a:rPr>
              <a:t>/</a:t>
            </a:r>
            <a:endParaRPr lang="en-US" sz="2600" dirty="0"/>
          </a:p>
        </p:txBody>
      </p:sp>
      <p:sp>
        <p:nvSpPr>
          <p:cNvPr id="28" name="Bagian nomor"/>
          <p:cNvSpPr/>
          <p:nvPr/>
        </p:nvSpPr>
        <p:spPr>
          <a:xfrm>
            <a:off x="10232136" y="1554480"/>
            <a:ext cx="1371600" cy="868680"/>
          </a:xfrm>
          <a:prstGeom prst="roundRect">
            <a:avLst>
              <a:gd name="adj" fmla="val 10526"/>
            </a:avLst>
          </a:prstGeom>
          <a:solidFill>
            <a:srgbClr val="004D2C"/>
          </a:solidFill>
          <a:ln w="12700">
            <a:solidFill>
              <a:srgbClr val="004D2C"/>
            </a:solidFill>
            <a:prstDash val="solid"/>
          </a:ln>
        </p:spPr>
      </p:sp>
      <p:sp>
        <p:nvSpPr>
          <p:cNvPr id="29" name="Text 27"/>
          <p:cNvSpPr txBox="1"/>
          <p:nvPr/>
        </p:nvSpPr>
        <p:spPr>
          <a:xfrm>
            <a:off x="10232136" y="1554480"/>
            <a:ext cx="1371600" cy="8686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2026</a:t>
            </a:r>
            <a:endParaRPr lang="en-US" sz="2400" dirty="0"/>
          </a:p>
        </p:txBody>
      </p:sp>
      <p:sp>
        <p:nvSpPr>
          <p:cNvPr id="30" name="Text 28"/>
          <p:cNvSpPr txBox="1"/>
          <p:nvPr/>
        </p:nvSpPr>
        <p:spPr>
          <a:xfrm>
            <a:off x="10140696" y="2514600"/>
            <a:ext cx="1554480" cy="320040"/>
          </a:xfrm>
          <a:prstGeom prst="rect">
            <a:avLst/>
          </a:prstGeom>
          <a:noFill/>
          <a:ln/>
        </p:spPr>
        <p:txBody>
          <a:bodyPr wrap="square" lIns="0" tIns="0" rIns="0" bIns="0" rtlCol="0" anchor="ctr"/>
          <a:lstStyle/>
          <a:p>
            <a:pPr algn="ctr" indent="0" marL="0">
              <a:buNone/>
            </a:pPr>
            <a:r>
              <a:rPr lang="en-US" sz="1400" b="1" dirty="0">
                <a:solidFill>
                  <a:srgbClr val="004D2C"/>
                </a:solidFill>
              </a:rPr>
              <a:t>tahun</a:t>
            </a:r>
            <a:endParaRPr lang="en-US" sz="1400" dirty="0"/>
          </a:p>
        </p:txBody>
      </p:sp>
      <p:sp>
        <p:nvSpPr>
          <p:cNvPr id="31" name="Text 29"/>
          <p:cNvSpPr txBox="1"/>
          <p:nvPr/>
        </p:nvSpPr>
        <p:spPr>
          <a:xfrm>
            <a:off x="10140696" y="2816352"/>
            <a:ext cx="1554480" cy="548640"/>
          </a:xfrm>
          <a:prstGeom prst="rect">
            <a:avLst/>
          </a:prstGeom>
          <a:noFill/>
          <a:ln/>
        </p:spPr>
        <p:txBody>
          <a:bodyPr wrap="square" lIns="0" tIns="0" rIns="0" bIns="0" rtlCol="0" anchor="t"/>
          <a:lstStyle/>
          <a:p>
            <a:pPr algn="ctr" indent="0" marL="0">
              <a:buNone/>
            </a:pPr>
            <a:r>
              <a:rPr lang="en-US" sz="1200" dirty="0">
                <a:solidFill>
                  <a:srgbClr val="55645D"/>
                </a:solidFill>
              </a:rPr>
              <a:t>tahun takwim</a:t>
            </a:r>
            <a:endParaRPr lang="en-US" sz="1200" dirty="0"/>
          </a:p>
        </p:txBody>
      </p:sp>
      <p:sp>
        <p:nvSpPr>
          <p:cNvPr id="32" name="Kartu"/>
          <p:cNvSpPr/>
          <p:nvPr/>
        </p:nvSpPr>
        <p:spPr>
          <a:xfrm>
            <a:off x="548640" y="3840480"/>
            <a:ext cx="5317236" cy="2194560"/>
          </a:xfrm>
          <a:prstGeom prst="roundRect">
            <a:avLst>
              <a:gd name="adj" fmla="val 5000"/>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33" name="Text 31"/>
          <p:cNvSpPr txBox="1"/>
          <p:nvPr/>
        </p:nvSpPr>
        <p:spPr>
          <a:xfrm>
            <a:off x="914400" y="4023360"/>
            <a:ext cx="4585716" cy="45720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Otomatis (bawaan)</a:t>
            </a:r>
            <a:endParaRPr lang="en-US" sz="2000" dirty="0"/>
          </a:p>
        </p:txBody>
      </p:sp>
      <p:sp>
        <p:nvSpPr>
          <p:cNvPr id="34" name="Text 32"/>
          <p:cNvSpPr txBox="1"/>
          <p:nvPr/>
        </p:nvSpPr>
        <p:spPr>
          <a:xfrm>
            <a:off x="914400" y="4526280"/>
            <a:ext cx="4585716" cy="1371600"/>
          </a:xfrm>
          <a:prstGeom prst="rect">
            <a:avLst/>
          </a:prstGeom>
          <a:noFill/>
          <a:ln/>
        </p:spPr>
        <p:txBody>
          <a:bodyPr wrap="square" lIns="0" tIns="0" rIns="0" bIns="0" rtlCol="0" anchor="t"/>
          <a:lstStyle/>
          <a:p>
            <a:pPr indent="0" marL="0">
              <a:buNone/>
            </a:pPr>
            <a:r>
              <a:rPr lang="en-US" sz="1500" dirty="0">
                <a:solidFill>
                  <a:srgbClr val="1B2A24"/>
                </a:solidFill>
              </a:rPr>
              <a:t>Nomor dibuat sistem saat surat terbit, di dalam transaksi basis data. Dua penandatanganan bersamaan tidak pernah mendapat nomor sama.</a:t>
            </a:r>
            <a:endParaRPr lang="en-US" sz="1500" dirty="0"/>
          </a:p>
        </p:txBody>
      </p:sp>
      <p:sp>
        <p:nvSpPr>
          <p:cNvPr id="35" name="Kartu"/>
          <p:cNvSpPr/>
          <p:nvPr/>
        </p:nvSpPr>
        <p:spPr>
          <a:xfrm>
            <a:off x="6323076" y="3840480"/>
            <a:ext cx="5317236" cy="2194560"/>
          </a:xfrm>
          <a:prstGeom prst="roundRect">
            <a:avLst>
              <a:gd name="adj" fmla="val 5000"/>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36" name="Text 34"/>
          <p:cNvSpPr txBox="1"/>
          <p:nvPr/>
        </p:nvSpPr>
        <p:spPr>
          <a:xfrm>
            <a:off x="6688836" y="4023360"/>
            <a:ext cx="4585716" cy="45720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Manual (diisi TU)</a:t>
            </a:r>
            <a:endParaRPr lang="en-US" sz="2000" dirty="0"/>
          </a:p>
        </p:txBody>
      </p:sp>
      <p:sp>
        <p:nvSpPr>
          <p:cNvPr id="37" name="Text 35"/>
          <p:cNvSpPr txBox="1"/>
          <p:nvPr/>
        </p:nvSpPr>
        <p:spPr>
          <a:xfrm>
            <a:off x="6688836" y="4526280"/>
            <a:ext cx="4585716" cy="1371600"/>
          </a:xfrm>
          <a:prstGeom prst="rect">
            <a:avLst/>
          </a:prstGeom>
          <a:noFill/>
          <a:ln/>
        </p:spPr>
        <p:txBody>
          <a:bodyPr wrap="square" lIns="0" tIns="0" rIns="0" bIns="0" rtlCol="0" anchor="t"/>
          <a:lstStyle/>
          <a:p>
            <a:pPr indent="0" marL="0">
              <a:buNone/>
            </a:pPr>
            <a:r>
              <a:rPr lang="en-US" sz="1500" dirty="0">
                <a:solidFill>
                  <a:srgbClr val="1B2A24"/>
                </a:solidFill>
              </a:rPr>
              <a:t>TU mengetik nomor sebelum surat berjalan: cukup angka urut (mis. 9) atau nomor lengkap. Nomor yang bentrok dengan surat lain atau Pembukuan ditolak.</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Surat masuk dan buku agenda terpusat</a:t>
            </a:r>
            <a:endParaRPr lang="en-US" sz="3400" dirty="0"/>
          </a:p>
        </p:txBody>
      </p:sp>
      <p:pic>
        <p:nvPicPr>
          <p:cNvPr id="3" name="Tangkapan layar" descr="Daftar surat masuk dengan nomor agenda">    </p:cNvPr>
          <p:cNvPicPr>
            <a:picLocks noChangeAspect="1"/>
          </p:cNvPicPr>
          <p:nvPr/>
        </p:nvPicPr>
        <p:blipFill>
          <a:blip r:embed="rId1"/>
          <a:stretch>
            <a:fillRect/>
          </a:stretch>
        </p:blipFill>
        <p:spPr>
          <a:xfrm>
            <a:off x="548640" y="1463040"/>
            <a:ext cx="5394960" cy="3371850"/>
          </a:xfrm>
          <a:prstGeom prst="rect">
            <a:avLst/>
          </a:prstGeom>
          <a:effectLst>
            <a:outerShdw sx="100000" sy="100000" kx="0" ky="0" algn="bl" rotWithShape="0" blurRad="101600" dist="25400" dir="5400000">
              <a:srgbClr val="000000">
                <a:alpha val="12000"/>
              </a:srgbClr>
            </a:outerShdw>
          </a:effectLst>
        </p:spPr>
      </p:pic>
      <p:sp>
        <p:nvSpPr>
          <p:cNvPr id="4" name="Keterangan gambar"/>
          <p:cNvSpPr txBox="1"/>
          <p:nvPr/>
        </p:nvSpPr>
        <p:spPr>
          <a:xfrm>
            <a:off x="548640" y="4926330"/>
            <a:ext cx="5394960" cy="365760"/>
          </a:xfrm>
          <a:prstGeom prst="rect">
            <a:avLst/>
          </a:prstGeom>
          <a:noFill/>
          <a:ln/>
        </p:spPr>
        <p:txBody>
          <a:bodyPr wrap="square" lIns="0" tIns="0" rIns="0" bIns="0" rtlCol="0" anchor="ctr"/>
          <a:lstStyle/>
          <a:p>
            <a:pPr indent="0" marL="0">
              <a:buNone/>
            </a:pPr>
            <a:r>
              <a:rPr lang="en-US" sz="1200" i="1" dirty="0">
                <a:solidFill>
                  <a:srgbClr val="55645D"/>
                </a:solidFill>
              </a:rPr>
              <a:t>Surat masuk: nomor agenda otomatis, sifat, pindaian</a:t>
            </a:r>
            <a:endParaRPr lang="en-US" sz="1200" dirty="0"/>
          </a:p>
        </p:txBody>
      </p:sp>
      <p:pic>
        <p:nvPicPr>
          <p:cNvPr id="5" name="Tangkapan layar" descr="Buku agenda Pembukuan">    </p:cNvPr>
          <p:cNvPicPr>
            <a:picLocks noChangeAspect="1"/>
          </p:cNvPicPr>
          <p:nvPr/>
        </p:nvPicPr>
        <p:blipFill>
          <a:blip r:embed="rId2"/>
          <a:stretch>
            <a:fillRect/>
          </a:stretch>
        </p:blipFill>
        <p:spPr>
          <a:xfrm>
            <a:off x="6309360" y="1463040"/>
            <a:ext cx="5394960" cy="3371850"/>
          </a:xfrm>
          <a:prstGeom prst="rect">
            <a:avLst/>
          </a:prstGeom>
          <a:effectLst>
            <a:outerShdw sx="100000" sy="100000" kx="0" ky="0" algn="bl" rotWithShape="0" blurRad="101600" dist="25400" dir="5400000">
              <a:srgbClr val="000000">
                <a:alpha val="12000"/>
              </a:srgbClr>
            </a:outerShdw>
          </a:effectLst>
        </p:spPr>
      </p:pic>
      <p:sp>
        <p:nvSpPr>
          <p:cNvPr id="6" name="Keterangan gambar"/>
          <p:cNvSpPr txBox="1"/>
          <p:nvPr/>
        </p:nvSpPr>
        <p:spPr>
          <a:xfrm>
            <a:off x="6309360" y="4926330"/>
            <a:ext cx="5394960" cy="365760"/>
          </a:xfrm>
          <a:prstGeom prst="rect">
            <a:avLst/>
          </a:prstGeom>
          <a:noFill/>
          <a:ln/>
        </p:spPr>
        <p:txBody>
          <a:bodyPr wrap="square" lIns="0" tIns="0" rIns="0" bIns="0" rtlCol="0" anchor="ctr"/>
          <a:lstStyle/>
          <a:p>
            <a:pPr indent="0" marL="0">
              <a:buNone/>
            </a:pPr>
            <a:r>
              <a:rPr lang="en-US" sz="1200" i="1" dirty="0">
                <a:solidFill>
                  <a:srgbClr val="55645D"/>
                </a:solidFill>
              </a:rPr>
              <a:t>Pembukuan: masuk, keluar, dan surat lama dalam satu buku</a:t>
            </a:r>
            <a:endParaRPr lang="en-US" sz="1200" dirty="0"/>
          </a:p>
        </p:txBody>
      </p:sp>
      <p:sp>
        <p:nvSpPr>
          <p:cNvPr id="7" name="Daftar poin"/>
          <p:cNvSpPr txBox="1"/>
          <p:nvPr/>
        </p:nvSpPr>
        <p:spPr>
          <a:xfrm>
            <a:off x="548640" y="5440680"/>
            <a:ext cx="11091672" cy="91440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Sifat surat: </a:t>
            </a:r>
            <a:pPr indent="0" marL="0">
              <a:buNone/>
            </a:pPr>
            <a:r>
              <a:rPr lang="en-US" sz="1600" dirty="0">
                <a:solidFill>
                  <a:srgbClr val="1B2A24"/>
                </a:solidFill>
              </a:rPr>
              <a:t>biasa, penting, segera, rahasia; surat rahasia hanya terlihat Admin, Dekan, dan Wakil Dekan.</a:t>
            </a:r>
            <a:endParaRPr lang="en-US" sz="1600" dirty="0"/>
          </a:p>
          <a:p>
            <a:pPr marL="342900" indent="-342900">
              <a:spcAft>
                <a:spcPts val="1000"/>
              </a:spcAft>
              <a:buSzPct val="100000"/>
              <a:buChar char="•"/>
            </a:pPr>
            <a:r>
              <a:rPr lang="en-US" sz="1600" b="1" dirty="0">
                <a:solidFill>
                  <a:srgbClr val="1B2A24"/>
                </a:solidFill>
              </a:rPr>
              <a:t>Surat lama </a:t>
            </a:r>
            <a:pPr indent="0" marL="0">
              <a:buNone/>
            </a:pPr>
            <a:r>
              <a:rPr lang="en-US" sz="1600" dirty="0">
                <a:solidFill>
                  <a:srgbClr val="1B2A24"/>
                </a:solidFill>
              </a:rPr>
              <a:t>masuk lewat Impor CSV (periksa dulu, nomor kembar dilewati) dan dapat diekspor kembali.</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Keaslian surat dapat diperiksa lewat QR</a:t>
            </a:r>
            <a:endParaRPr lang="en-US" sz="3400" dirty="0"/>
          </a:p>
        </p:txBody>
      </p:sp>
      <p:sp>
        <p:nvSpPr>
          <p:cNvPr id="3" name="Kartu"/>
          <p:cNvSpPr/>
          <p:nvPr/>
        </p:nvSpPr>
        <p:spPr>
          <a:xfrm>
            <a:off x="548640" y="1463040"/>
            <a:ext cx="5212080" cy="960120"/>
          </a:xfrm>
          <a:prstGeom prst="roundRect">
            <a:avLst>
              <a:gd name="adj" fmla="val 11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Lingkar ikon"/>
          <p:cNvSpPr/>
          <p:nvPr/>
        </p:nvSpPr>
        <p:spPr>
          <a:xfrm>
            <a:off x="777240" y="1645920"/>
            <a:ext cx="594360" cy="594360"/>
          </a:xfrm>
          <a:prstGeom prst="ellipse">
            <a:avLst/>
          </a:prstGeom>
          <a:solidFill>
            <a:srgbClr val="EEF5F0"/>
          </a:solidFill>
          <a:ln w="12700">
            <a:solidFill>
              <a:srgbClr val="EEF5F0"/>
            </a:solidFill>
            <a:prstDash val="solid"/>
          </a:ln>
        </p:spPr>
      </p:sp>
      <p:pic>
        <p:nvPicPr>
          <p:cNvPr id="5" name="Image 0" descr="ikon FiEdit3">    </p:cNvPr>
          <p:cNvPicPr>
            <a:picLocks noChangeAspect="1"/>
          </p:cNvPicPr>
          <p:nvPr/>
        </p:nvPicPr>
        <p:blipFill>
          <a:blip r:embed="rId1"/>
          <a:stretch>
            <a:fillRect/>
          </a:stretch>
        </p:blipFill>
        <p:spPr>
          <a:xfrm>
            <a:off x="925830" y="1794510"/>
            <a:ext cx="297180" cy="297180"/>
          </a:xfrm>
          <a:prstGeom prst="rect">
            <a:avLst/>
          </a:prstGeom>
        </p:spPr>
      </p:pic>
      <p:sp>
        <p:nvSpPr>
          <p:cNvPr id="6" name="Text 3"/>
          <p:cNvSpPr txBox="1"/>
          <p:nvPr/>
        </p:nvSpPr>
        <p:spPr>
          <a:xfrm>
            <a:off x="1554480" y="1508760"/>
            <a:ext cx="4069080" cy="868680"/>
          </a:xfrm>
          <a:prstGeom prst="rect">
            <a:avLst/>
          </a:prstGeom>
          <a:noFill/>
          <a:ln/>
        </p:spPr>
        <p:txBody>
          <a:bodyPr wrap="square" lIns="0" tIns="0" rIns="0" bIns="0" rtlCol="0" anchor="ctr"/>
          <a:lstStyle/>
          <a:p>
            <a:pPr indent="0" marL="0">
              <a:buNone/>
            </a:pPr>
            <a:r>
              <a:rPr lang="en-US" sz="1600" b="1" dirty="0">
                <a:solidFill>
                  <a:srgbClr val="004D2C"/>
                </a:solidFill>
              </a:rPr>
              <a:t>Pejabat menandatangani</a:t>
            </a:r>
            <a:endParaRPr lang="en-US" sz="1600" dirty="0"/>
          </a:p>
          <a:p>
            <a:pPr indent="0" marL="0">
              <a:buNone/>
            </a:pPr>
            <a:r>
              <a:rPr lang="en-US" sz="1300" dirty="0">
                <a:solidFill>
                  <a:srgbClr val="1B2A24"/>
                </a:solidFill>
              </a:rPr>
              <a:t>kunci privat di server menyegel ringkasan data surat</a:t>
            </a:r>
            <a:endParaRPr lang="en-US" sz="1600" dirty="0"/>
          </a:p>
        </p:txBody>
      </p:sp>
      <p:sp>
        <p:nvSpPr>
          <p:cNvPr id="7" name="Kartu"/>
          <p:cNvSpPr/>
          <p:nvPr/>
        </p:nvSpPr>
        <p:spPr>
          <a:xfrm>
            <a:off x="548640" y="2560320"/>
            <a:ext cx="5212080" cy="960120"/>
          </a:xfrm>
          <a:prstGeom prst="roundRect">
            <a:avLst>
              <a:gd name="adj" fmla="val 11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8" name="Lingkar ikon"/>
          <p:cNvSpPr/>
          <p:nvPr/>
        </p:nvSpPr>
        <p:spPr>
          <a:xfrm>
            <a:off x="777240" y="2743200"/>
            <a:ext cx="594360" cy="594360"/>
          </a:xfrm>
          <a:prstGeom prst="ellipse">
            <a:avLst/>
          </a:prstGeom>
          <a:solidFill>
            <a:srgbClr val="EEF5F0"/>
          </a:solidFill>
          <a:ln w="12700">
            <a:solidFill>
              <a:srgbClr val="EEF5F0"/>
            </a:solidFill>
            <a:prstDash val="solid"/>
          </a:ln>
        </p:spPr>
      </p:sp>
      <p:pic>
        <p:nvPicPr>
          <p:cNvPr id="9" name="Image 1" descr="ikon FiGrid">    </p:cNvPr>
          <p:cNvPicPr>
            <a:picLocks noChangeAspect="1"/>
          </p:cNvPicPr>
          <p:nvPr/>
        </p:nvPicPr>
        <p:blipFill>
          <a:blip r:embed="rId2"/>
          <a:stretch>
            <a:fillRect/>
          </a:stretch>
        </p:blipFill>
        <p:spPr>
          <a:xfrm>
            <a:off x="925830" y="2891790"/>
            <a:ext cx="297180" cy="297180"/>
          </a:xfrm>
          <a:prstGeom prst="rect">
            <a:avLst/>
          </a:prstGeom>
        </p:spPr>
      </p:pic>
      <p:sp>
        <p:nvSpPr>
          <p:cNvPr id="10" name="Text 6"/>
          <p:cNvSpPr txBox="1"/>
          <p:nvPr/>
        </p:nvSpPr>
        <p:spPr>
          <a:xfrm>
            <a:off x="1554480" y="2606040"/>
            <a:ext cx="4069080" cy="868680"/>
          </a:xfrm>
          <a:prstGeom prst="rect">
            <a:avLst/>
          </a:prstGeom>
          <a:noFill/>
          <a:ln/>
        </p:spPr>
        <p:txBody>
          <a:bodyPr wrap="square" lIns="0" tIns="0" rIns="0" bIns="0" rtlCol="0" anchor="ctr"/>
          <a:lstStyle/>
          <a:p>
            <a:pPr indent="0" marL="0">
              <a:buNone/>
            </a:pPr>
            <a:r>
              <a:rPr lang="en-US" sz="1600" b="1" dirty="0">
                <a:solidFill>
                  <a:srgbClr val="004D2C"/>
                </a:solidFill>
              </a:rPr>
              <a:t>QR dicetak di surat</a:t>
            </a:r>
            <a:endParaRPr lang="en-US" sz="1600" dirty="0"/>
          </a:p>
          <a:p>
            <a:pPr indent="0" marL="0">
              <a:buNone/>
            </a:pPr>
            <a:r>
              <a:rPr lang="en-US" sz="1300" dirty="0">
                <a:solidFill>
                  <a:srgbClr val="1B2A24"/>
                </a:solidFill>
              </a:rPr>
              <a:t>berisi alamat verifikasi, data ringkas, dan tanda tangan digital</a:t>
            </a:r>
            <a:endParaRPr lang="en-US" sz="1600" dirty="0"/>
          </a:p>
        </p:txBody>
      </p:sp>
      <p:sp>
        <p:nvSpPr>
          <p:cNvPr id="11" name="Kartu"/>
          <p:cNvSpPr/>
          <p:nvPr/>
        </p:nvSpPr>
        <p:spPr>
          <a:xfrm>
            <a:off x="548640" y="3657600"/>
            <a:ext cx="5212080" cy="960120"/>
          </a:xfrm>
          <a:prstGeom prst="roundRect">
            <a:avLst>
              <a:gd name="adj" fmla="val 11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2" name="Lingkar ikon"/>
          <p:cNvSpPr/>
          <p:nvPr/>
        </p:nvSpPr>
        <p:spPr>
          <a:xfrm>
            <a:off x="777240" y="3840480"/>
            <a:ext cx="594360" cy="594360"/>
          </a:xfrm>
          <a:prstGeom prst="ellipse">
            <a:avLst/>
          </a:prstGeom>
          <a:solidFill>
            <a:srgbClr val="EEF5F0"/>
          </a:solidFill>
          <a:ln w="12700">
            <a:solidFill>
              <a:srgbClr val="EEF5F0"/>
            </a:solidFill>
            <a:prstDash val="solid"/>
          </a:ln>
        </p:spPr>
      </p:sp>
      <p:pic>
        <p:nvPicPr>
          <p:cNvPr id="13" name="Image 2" descr="ikon FiSmartphone">    </p:cNvPr>
          <p:cNvPicPr>
            <a:picLocks noChangeAspect="1"/>
          </p:cNvPicPr>
          <p:nvPr/>
        </p:nvPicPr>
        <p:blipFill>
          <a:blip r:embed="rId3"/>
          <a:stretch>
            <a:fillRect/>
          </a:stretch>
        </p:blipFill>
        <p:spPr>
          <a:xfrm>
            <a:off x="925830" y="3989070"/>
            <a:ext cx="297180" cy="297180"/>
          </a:xfrm>
          <a:prstGeom prst="rect">
            <a:avLst/>
          </a:prstGeom>
        </p:spPr>
      </p:pic>
      <p:sp>
        <p:nvSpPr>
          <p:cNvPr id="14" name="Text 9"/>
          <p:cNvSpPr txBox="1"/>
          <p:nvPr/>
        </p:nvSpPr>
        <p:spPr>
          <a:xfrm>
            <a:off x="1554480" y="3703320"/>
            <a:ext cx="4069080" cy="868680"/>
          </a:xfrm>
          <a:prstGeom prst="rect">
            <a:avLst/>
          </a:prstGeom>
          <a:noFill/>
          <a:ln/>
        </p:spPr>
        <p:txBody>
          <a:bodyPr wrap="square" lIns="0" tIns="0" rIns="0" bIns="0" rtlCol="0" anchor="ctr"/>
          <a:lstStyle/>
          <a:p>
            <a:pPr indent="0" marL="0">
              <a:buNone/>
            </a:pPr>
            <a:r>
              <a:rPr lang="en-US" sz="1600" b="1" dirty="0">
                <a:solidFill>
                  <a:srgbClr val="004D2C"/>
                </a:solidFill>
              </a:rPr>
              <a:t>Penerima memindai</a:t>
            </a:r>
            <a:endParaRPr lang="en-US" sz="1600" dirty="0"/>
          </a:p>
          <a:p>
            <a:pPr indent="0" marL="0">
              <a:buNone/>
            </a:pPr>
            <a:r>
              <a:rPr lang="en-US" sz="1300" dirty="0">
                <a:solidFill>
                  <a:srgbClr val="1B2A24"/>
                </a:solidFill>
              </a:rPr>
              <a:t>halaman memeriksa tanda tangan dengan kunci publik</a:t>
            </a:r>
            <a:endParaRPr lang="en-US" sz="1600" dirty="0"/>
          </a:p>
        </p:txBody>
      </p:sp>
      <p:sp>
        <p:nvSpPr>
          <p:cNvPr id="15" name="Kartu"/>
          <p:cNvSpPr/>
          <p:nvPr/>
        </p:nvSpPr>
        <p:spPr>
          <a:xfrm>
            <a:off x="548640" y="4754880"/>
            <a:ext cx="5212080" cy="960120"/>
          </a:xfrm>
          <a:prstGeom prst="roundRect">
            <a:avLst>
              <a:gd name="adj" fmla="val 11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6" name="Lingkar ikon"/>
          <p:cNvSpPr/>
          <p:nvPr/>
        </p:nvSpPr>
        <p:spPr>
          <a:xfrm>
            <a:off x="777240" y="4937760"/>
            <a:ext cx="594360" cy="594360"/>
          </a:xfrm>
          <a:prstGeom prst="ellipse">
            <a:avLst/>
          </a:prstGeom>
          <a:solidFill>
            <a:srgbClr val="EEF5F0"/>
          </a:solidFill>
          <a:ln w="12700">
            <a:solidFill>
              <a:srgbClr val="EEF5F0"/>
            </a:solidFill>
            <a:prstDash val="solid"/>
          </a:ln>
        </p:spPr>
      </p:sp>
      <p:pic>
        <p:nvPicPr>
          <p:cNvPr id="17" name="Image 3" descr="ikon FiCheckCircle">    </p:cNvPr>
          <p:cNvPicPr>
            <a:picLocks noChangeAspect="1"/>
          </p:cNvPicPr>
          <p:nvPr/>
        </p:nvPicPr>
        <p:blipFill>
          <a:blip r:embed="rId4"/>
          <a:stretch>
            <a:fillRect/>
          </a:stretch>
        </p:blipFill>
        <p:spPr>
          <a:xfrm>
            <a:off x="925830" y="5086350"/>
            <a:ext cx="297180" cy="297180"/>
          </a:xfrm>
          <a:prstGeom prst="rect">
            <a:avLst/>
          </a:prstGeom>
        </p:spPr>
      </p:pic>
      <p:sp>
        <p:nvSpPr>
          <p:cNvPr id="18" name="Text 12"/>
          <p:cNvSpPr txBox="1"/>
          <p:nvPr/>
        </p:nvSpPr>
        <p:spPr>
          <a:xfrm>
            <a:off x="1554480" y="4800600"/>
            <a:ext cx="4069080" cy="868680"/>
          </a:xfrm>
          <a:prstGeom prst="rect">
            <a:avLst/>
          </a:prstGeom>
          <a:noFill/>
          <a:ln/>
        </p:spPr>
        <p:txBody>
          <a:bodyPr wrap="square" lIns="0" tIns="0" rIns="0" bIns="0" rtlCol="0" anchor="ctr"/>
          <a:lstStyle/>
          <a:p>
            <a:pPr indent="0" marL="0">
              <a:buNone/>
            </a:pPr>
            <a:r>
              <a:rPr lang="en-US" sz="1600" b="1" dirty="0">
                <a:solidFill>
                  <a:srgbClr val="004D2C"/>
                </a:solidFill>
              </a:rPr>
              <a:t>Sah atau tidak valid</a:t>
            </a:r>
            <a:endParaRPr lang="en-US" sz="1600" dirty="0"/>
          </a:p>
          <a:p>
            <a:pPr indent="0" marL="0">
              <a:buNone/>
            </a:pPr>
            <a:r>
              <a:rPr lang="en-US" sz="1300" dirty="0">
                <a:solidFill>
                  <a:srgbClr val="1B2A24"/>
                </a:solidFill>
              </a:rPr>
              <a:t>satu karakter diubah, pemeriksaan gagal</a:t>
            </a:r>
            <a:endParaRPr lang="en-US" sz="1600" dirty="0"/>
          </a:p>
        </p:txBody>
      </p:sp>
      <p:pic>
        <p:nvPicPr>
          <p:cNvPr id="19" name="Tangkapan layar" descr="Halaman verifikasi: Dokumen Asli, Terverifikasi">    </p:cNvPr>
          <p:cNvPicPr>
            <a:picLocks noChangeAspect="1"/>
          </p:cNvPicPr>
          <p:nvPr/>
        </p:nvPicPr>
        <p:blipFill>
          <a:blip r:embed="rId5"/>
          <a:stretch>
            <a:fillRect/>
          </a:stretch>
        </p:blipFill>
        <p:spPr>
          <a:xfrm>
            <a:off x="6126480" y="1463040"/>
            <a:ext cx="5513832" cy="3446145"/>
          </a:xfrm>
          <a:prstGeom prst="rect">
            <a:avLst/>
          </a:prstGeom>
          <a:effectLst>
            <a:outerShdw sx="100000" sy="100000" kx="0" ky="0" algn="bl" rotWithShape="0" blurRad="101600" dist="25400" dir="5400000">
              <a:srgbClr val="000000">
                <a:alpha val="12000"/>
              </a:srgbClr>
            </a:outerShdw>
          </a:effectLst>
        </p:spPr>
      </p:pic>
      <p:sp>
        <p:nvSpPr>
          <p:cNvPr id="20" name="Text 13"/>
          <p:cNvSpPr txBox="1"/>
          <p:nvPr/>
        </p:nvSpPr>
        <p:spPr>
          <a:xfrm>
            <a:off x="6126480" y="5046345"/>
            <a:ext cx="5513832" cy="731520"/>
          </a:xfrm>
          <a:prstGeom prst="rect">
            <a:avLst/>
          </a:prstGeom>
          <a:noFill/>
          <a:ln/>
        </p:spPr>
        <p:txBody>
          <a:bodyPr wrap="square" lIns="0" tIns="0" rIns="0" bIns="0" rtlCol="0" anchor="t"/>
          <a:lstStyle/>
          <a:p>
            <a:pPr indent="0" marL="0">
              <a:buNone/>
            </a:pPr>
            <a:r>
              <a:rPr lang="en-US" sz="1400" i="1" dirty="0">
                <a:solidFill>
                  <a:srgbClr val="55645D"/>
                </a:solidFill>
              </a:rPr>
              <a:t>Yang terjamin adalah keaslian dan keutuhan, bukan kerahasiaan isi surat.</a:t>
            </a:r>
            <a:endParaRPr lang="en-US" sz="1400" dirty="0"/>
          </a:p>
        </p:txBody>
      </p:sp>
      <p:sp>
        <p:nvSpPr>
          <p:cNvPr id="21" name="Text 14"/>
          <p:cNvSpPr txBox="1"/>
          <p:nvPr/>
        </p:nvSpPr>
        <p:spPr>
          <a:xfrm>
            <a:off x="548640" y="5897880"/>
            <a:ext cx="5212080" cy="457200"/>
          </a:xfrm>
          <a:prstGeom prst="rect">
            <a:avLst/>
          </a:prstGeom>
          <a:noFill/>
          <a:ln/>
        </p:spPr>
        <p:txBody>
          <a:bodyPr wrap="square" lIns="0" tIns="0" rIns="0" bIns="0" rtlCol="0" anchor="t"/>
          <a:lstStyle/>
          <a:p>
            <a:pPr indent="0" marL="0">
              <a:buNone/>
            </a:pPr>
            <a:r>
              <a:rPr lang="en-US" sz="1300" dirty="0">
                <a:solidFill>
                  <a:srgbClr val="1B2A24"/>
                </a:solidFill>
              </a:rPr>
              <a:t>Petugas TU juga dapat mencocokkan berkas PDF dengan hash yang tersimpan, dan melihat status batal.</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Apa isi QR pada surat</a:t>
            </a:r>
            <a:endParaRPr lang="en-US" sz="3400" dirty="0"/>
          </a:p>
        </p:txBody>
      </p:sp>
      <p:sp>
        <p:nvSpPr>
          <p:cNvPr id="3" name="Bagian tautan QR"/>
          <p:cNvSpPr/>
          <p:nvPr/>
        </p:nvSpPr>
        <p:spPr>
          <a:xfrm>
            <a:off x="800100" y="1463040"/>
            <a:ext cx="4297680" cy="731520"/>
          </a:xfrm>
          <a:prstGeom prst="roundRect">
            <a:avLst>
              <a:gd name="adj" fmla="val 12500"/>
            </a:avLst>
          </a:prstGeom>
          <a:solidFill>
            <a:srgbClr val="004D2C"/>
          </a:solidFill>
          <a:ln w="12700">
            <a:solidFill>
              <a:srgbClr val="004D2C"/>
            </a:solidFill>
            <a:prstDash val="solid"/>
          </a:ln>
        </p:spPr>
      </p:sp>
      <p:sp>
        <p:nvSpPr>
          <p:cNvPr id="4" name="Text 2"/>
          <p:cNvSpPr txBox="1"/>
          <p:nvPr/>
        </p:nvSpPr>
        <p:spPr>
          <a:xfrm>
            <a:off x="800100" y="1463040"/>
            <a:ext cx="429768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http://sipersu.ft.umbuton.ac.id/verifikasi</a:t>
            </a:r>
            <a:endParaRPr lang="en-US" sz="1200" dirty="0"/>
          </a:p>
        </p:txBody>
      </p:sp>
      <p:sp>
        <p:nvSpPr>
          <p:cNvPr id="5" name="Text 3"/>
          <p:cNvSpPr txBox="1"/>
          <p:nvPr/>
        </p:nvSpPr>
        <p:spPr>
          <a:xfrm>
            <a:off x="617220" y="2267712"/>
            <a:ext cx="4663440" cy="365760"/>
          </a:xfrm>
          <a:prstGeom prst="rect">
            <a:avLst/>
          </a:prstGeom>
          <a:noFill/>
          <a:ln/>
        </p:spPr>
        <p:txBody>
          <a:bodyPr wrap="square" lIns="0" tIns="0" rIns="0" bIns="0" rtlCol="0" anchor="ctr"/>
          <a:lstStyle/>
          <a:p>
            <a:pPr algn="ctr" indent="0" marL="0">
              <a:buNone/>
            </a:pPr>
            <a:r>
              <a:rPr lang="en-US" sz="1300" dirty="0">
                <a:solidFill>
                  <a:srgbClr val="55645D"/>
                </a:solidFill>
              </a:rPr>
              <a:t>alamat halaman verifikasi</a:t>
            </a:r>
            <a:endParaRPr lang="en-US" sz="1300" dirty="0"/>
          </a:p>
        </p:txBody>
      </p:sp>
      <p:sp>
        <p:nvSpPr>
          <p:cNvPr id="6" name="Bagian tautan QR"/>
          <p:cNvSpPr/>
          <p:nvPr/>
        </p:nvSpPr>
        <p:spPr>
          <a:xfrm>
            <a:off x="5207508" y="1463040"/>
            <a:ext cx="457200" cy="731520"/>
          </a:xfrm>
          <a:prstGeom prst="roundRect">
            <a:avLst>
              <a:gd name="adj" fmla="val 20000"/>
            </a:avLst>
          </a:prstGeom>
          <a:solidFill>
            <a:srgbClr val="FDB913"/>
          </a:solidFill>
          <a:ln w="12700">
            <a:solidFill>
              <a:srgbClr val="FDB913"/>
            </a:solidFill>
            <a:prstDash val="solid"/>
          </a:ln>
        </p:spPr>
      </p:sp>
      <p:sp>
        <p:nvSpPr>
          <p:cNvPr id="7" name="Text 5"/>
          <p:cNvSpPr txBox="1"/>
          <p:nvPr/>
        </p:nvSpPr>
        <p:spPr>
          <a:xfrm>
            <a:off x="5207508" y="1463040"/>
            <a:ext cx="457200" cy="731520"/>
          </a:xfrm>
          <a:prstGeom prst="rect">
            <a:avLst/>
          </a:prstGeom>
          <a:noFill/>
          <a:ln/>
        </p:spPr>
        <p:txBody>
          <a:bodyPr wrap="square" lIns="0" tIns="0" rIns="0" bIns="0" rtlCol="0" anchor="ctr"/>
          <a:lstStyle/>
          <a:p>
            <a:pPr algn="ctr" indent="0" marL="0">
              <a:buNone/>
            </a:pPr>
            <a:r>
              <a:rPr lang="en-US" sz="1200" b="1" dirty="0">
                <a:solidFill>
                  <a:srgbClr val="1B2A24"/>
                </a:solidFill>
                <a:latin typeface="Courier New" pitchFamily="34" charset="0"/>
                <a:ea typeface="Courier New" pitchFamily="34" charset="-122"/>
                <a:cs typeface="Courier New" pitchFamily="34" charset="-120"/>
              </a:rPr>
              <a:t>#</a:t>
            </a:r>
            <a:endParaRPr lang="en-US" sz="1200" dirty="0"/>
          </a:p>
        </p:txBody>
      </p:sp>
      <p:sp>
        <p:nvSpPr>
          <p:cNvPr id="8" name="Text 6"/>
          <p:cNvSpPr txBox="1"/>
          <p:nvPr/>
        </p:nvSpPr>
        <p:spPr>
          <a:xfrm>
            <a:off x="5024628" y="2267712"/>
            <a:ext cx="822960" cy="365760"/>
          </a:xfrm>
          <a:prstGeom prst="rect">
            <a:avLst/>
          </a:prstGeom>
          <a:noFill/>
          <a:ln/>
        </p:spPr>
        <p:txBody>
          <a:bodyPr wrap="square" lIns="0" tIns="0" rIns="0" bIns="0" rtlCol="0" anchor="ctr"/>
          <a:lstStyle/>
          <a:p>
            <a:pPr algn="ctr" indent="0" marL="0">
              <a:buNone/>
            </a:pPr>
            <a:r>
              <a:rPr lang="en-US" sz="1300" dirty="0">
                <a:solidFill>
                  <a:srgbClr val="55645D"/>
                </a:solidFill>
              </a:rPr>
              <a:t>pemisah (fragment)</a:t>
            </a:r>
            <a:endParaRPr lang="en-US" sz="1300" dirty="0"/>
          </a:p>
        </p:txBody>
      </p:sp>
      <p:sp>
        <p:nvSpPr>
          <p:cNvPr id="9" name="Bagian tautan QR"/>
          <p:cNvSpPr/>
          <p:nvPr/>
        </p:nvSpPr>
        <p:spPr>
          <a:xfrm>
            <a:off x="5774436" y="1463040"/>
            <a:ext cx="2651760" cy="731520"/>
          </a:xfrm>
          <a:prstGeom prst="roundRect">
            <a:avLst>
              <a:gd name="adj" fmla="val 12500"/>
            </a:avLst>
          </a:prstGeom>
          <a:solidFill>
            <a:srgbClr val="006B3C"/>
          </a:solidFill>
          <a:ln w="12700">
            <a:solidFill>
              <a:srgbClr val="006B3C"/>
            </a:solidFill>
            <a:prstDash val="solid"/>
          </a:ln>
        </p:spPr>
      </p:sp>
      <p:sp>
        <p:nvSpPr>
          <p:cNvPr id="10" name="Text 8"/>
          <p:cNvSpPr txBox="1"/>
          <p:nvPr/>
        </p:nvSpPr>
        <p:spPr>
          <a:xfrm>
            <a:off x="5774436" y="1463040"/>
            <a:ext cx="265176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eyJ2IjoxLCJuIjoi…</a:t>
            </a:r>
            <a:endParaRPr lang="en-US" sz="1200" dirty="0"/>
          </a:p>
        </p:txBody>
      </p:sp>
      <p:sp>
        <p:nvSpPr>
          <p:cNvPr id="11" name="Text 9"/>
          <p:cNvSpPr txBox="1"/>
          <p:nvPr/>
        </p:nvSpPr>
        <p:spPr>
          <a:xfrm>
            <a:off x="5591556" y="2267712"/>
            <a:ext cx="3017520" cy="365760"/>
          </a:xfrm>
          <a:prstGeom prst="rect">
            <a:avLst/>
          </a:prstGeom>
          <a:noFill/>
          <a:ln/>
        </p:spPr>
        <p:txBody>
          <a:bodyPr wrap="square" lIns="0" tIns="0" rIns="0" bIns="0" rtlCol="0" anchor="ctr"/>
          <a:lstStyle/>
          <a:p>
            <a:pPr algn="ctr" indent="0" marL="0">
              <a:buNone/>
            </a:pPr>
            <a:r>
              <a:rPr lang="en-US" sz="1300" dirty="0">
                <a:solidFill>
                  <a:srgbClr val="55645D"/>
                </a:solidFill>
              </a:rPr>
              <a:t>payload: data surat</a:t>
            </a:r>
            <a:endParaRPr lang="en-US" sz="1300" dirty="0"/>
          </a:p>
        </p:txBody>
      </p:sp>
      <p:sp>
        <p:nvSpPr>
          <p:cNvPr id="12" name="Bagian tautan QR"/>
          <p:cNvSpPr/>
          <p:nvPr/>
        </p:nvSpPr>
        <p:spPr>
          <a:xfrm>
            <a:off x="8535924" y="1463040"/>
            <a:ext cx="365760" cy="731520"/>
          </a:xfrm>
          <a:prstGeom prst="roundRect">
            <a:avLst>
              <a:gd name="adj" fmla="val 25000"/>
            </a:avLst>
          </a:prstGeom>
          <a:solidFill>
            <a:srgbClr val="FDB913"/>
          </a:solidFill>
          <a:ln w="12700">
            <a:solidFill>
              <a:srgbClr val="FDB913"/>
            </a:solidFill>
            <a:prstDash val="solid"/>
          </a:ln>
        </p:spPr>
      </p:sp>
      <p:sp>
        <p:nvSpPr>
          <p:cNvPr id="13" name="Text 11"/>
          <p:cNvSpPr txBox="1"/>
          <p:nvPr/>
        </p:nvSpPr>
        <p:spPr>
          <a:xfrm>
            <a:off x="8535924" y="1463040"/>
            <a:ext cx="365760" cy="731520"/>
          </a:xfrm>
          <a:prstGeom prst="rect">
            <a:avLst/>
          </a:prstGeom>
          <a:noFill/>
          <a:ln/>
        </p:spPr>
        <p:txBody>
          <a:bodyPr wrap="square" lIns="0" tIns="0" rIns="0" bIns="0" rtlCol="0" anchor="ctr"/>
          <a:lstStyle/>
          <a:p>
            <a:pPr algn="ctr" indent="0" marL="0">
              <a:buNone/>
            </a:pPr>
            <a:r>
              <a:rPr lang="en-US" sz="1200" b="1" dirty="0">
                <a:solidFill>
                  <a:srgbClr val="1B2A24"/>
                </a:solidFill>
                <a:latin typeface="Courier New" pitchFamily="34" charset="0"/>
                <a:ea typeface="Courier New" pitchFamily="34" charset="-122"/>
                <a:cs typeface="Courier New" pitchFamily="34" charset="-120"/>
              </a:rPr>
              <a:t>.</a:t>
            </a:r>
            <a:endParaRPr lang="en-US" sz="1200" dirty="0"/>
          </a:p>
        </p:txBody>
      </p:sp>
      <p:sp>
        <p:nvSpPr>
          <p:cNvPr id="14" name="Bagian tautan QR"/>
          <p:cNvSpPr/>
          <p:nvPr/>
        </p:nvSpPr>
        <p:spPr>
          <a:xfrm>
            <a:off x="9011412" y="1463040"/>
            <a:ext cx="2377440" cy="731520"/>
          </a:xfrm>
          <a:prstGeom prst="roundRect">
            <a:avLst>
              <a:gd name="adj" fmla="val 12500"/>
            </a:avLst>
          </a:prstGeom>
          <a:solidFill>
            <a:srgbClr val="2F6F9F"/>
          </a:solidFill>
          <a:ln w="12700">
            <a:solidFill>
              <a:srgbClr val="2F6F9F"/>
            </a:solidFill>
            <a:prstDash val="solid"/>
          </a:ln>
        </p:spPr>
      </p:sp>
      <p:sp>
        <p:nvSpPr>
          <p:cNvPr id="15" name="Text 13"/>
          <p:cNvSpPr txBox="1"/>
          <p:nvPr/>
        </p:nvSpPr>
        <p:spPr>
          <a:xfrm>
            <a:off x="9011412" y="1463040"/>
            <a:ext cx="2377440" cy="731520"/>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C0hioENjzZTK…</a:t>
            </a:r>
            <a:endParaRPr lang="en-US" sz="1200" dirty="0"/>
          </a:p>
        </p:txBody>
      </p:sp>
      <p:sp>
        <p:nvSpPr>
          <p:cNvPr id="16" name="Text 14"/>
          <p:cNvSpPr txBox="1"/>
          <p:nvPr/>
        </p:nvSpPr>
        <p:spPr>
          <a:xfrm>
            <a:off x="8828532" y="2267712"/>
            <a:ext cx="2743200" cy="365760"/>
          </a:xfrm>
          <a:prstGeom prst="rect">
            <a:avLst/>
          </a:prstGeom>
          <a:noFill/>
          <a:ln/>
        </p:spPr>
        <p:txBody>
          <a:bodyPr wrap="square" lIns="0" tIns="0" rIns="0" bIns="0" rtlCol="0" anchor="ctr"/>
          <a:lstStyle/>
          <a:p>
            <a:pPr algn="ctr" indent="0" marL="0">
              <a:buNone/>
            </a:pPr>
            <a:r>
              <a:rPr lang="en-US" sz="1300" dirty="0">
                <a:solidFill>
                  <a:srgbClr val="55645D"/>
                </a:solidFill>
              </a:rPr>
              <a:t>tanda tangan digital</a:t>
            </a:r>
            <a:endParaRPr lang="en-US" sz="1300" dirty="0"/>
          </a:p>
        </p:txBody>
      </p:sp>
      <p:sp>
        <p:nvSpPr>
          <p:cNvPr id="17" name="Kartu"/>
          <p:cNvSpPr/>
          <p:nvPr/>
        </p:nvSpPr>
        <p:spPr>
          <a:xfrm>
            <a:off x="548640" y="2926080"/>
            <a:ext cx="3453384" cy="3200400"/>
          </a:xfrm>
          <a:prstGeom prst="roundRect">
            <a:avLst>
              <a:gd name="adj" fmla="val 3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8" name="Text 16"/>
          <p:cNvSpPr txBox="1"/>
          <p:nvPr/>
        </p:nvSpPr>
        <p:spPr>
          <a:xfrm>
            <a:off x="822960" y="3063240"/>
            <a:ext cx="2904744"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Data yang disegel</a:t>
            </a:r>
            <a:endParaRPr lang="en-US" sz="1900" dirty="0"/>
          </a:p>
        </p:txBody>
      </p:sp>
      <p:sp>
        <p:nvSpPr>
          <p:cNvPr id="19" name="Text 17"/>
          <p:cNvSpPr txBox="1"/>
          <p:nvPr/>
        </p:nvSpPr>
        <p:spPr>
          <a:xfrm>
            <a:off x="822960" y="3611880"/>
            <a:ext cx="2904744"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24"/>
                </a:solidFill>
              </a:rPr>
              <a:t>Nomor surat</a:t>
            </a:r>
            <a:endParaRPr lang="en-US" sz="1400" dirty="0"/>
          </a:p>
          <a:p>
            <a:pPr marL="342900" indent="-342900">
              <a:spcAft>
                <a:spcPts val="600"/>
              </a:spcAft>
              <a:buSzPct val="100000"/>
              <a:buChar char="•"/>
            </a:pPr>
            <a:r>
              <a:rPr lang="en-US" sz="1400" dirty="0">
                <a:solidFill>
                  <a:srgbClr val="1B2A24"/>
                </a:solidFill>
              </a:rPr>
              <a:t>Perihal</a:t>
            </a:r>
            <a:endParaRPr lang="en-US" sz="1400" dirty="0"/>
          </a:p>
          <a:p>
            <a:pPr marL="342900" indent="-342900">
              <a:spcAft>
                <a:spcPts val="600"/>
              </a:spcAft>
              <a:buSzPct val="100000"/>
              <a:buChar char="•"/>
            </a:pPr>
            <a:r>
              <a:rPr lang="en-US" sz="1400" dirty="0">
                <a:solidFill>
                  <a:srgbClr val="1B2A24"/>
                </a:solidFill>
              </a:rPr>
              <a:t>Nama dan jabatan penanda tangan</a:t>
            </a:r>
            <a:endParaRPr lang="en-US" sz="1400" dirty="0"/>
          </a:p>
          <a:p>
            <a:pPr marL="342900" indent="-342900">
              <a:spcAft>
                <a:spcPts val="600"/>
              </a:spcAft>
              <a:buSzPct val="100000"/>
              <a:buChar char="•"/>
            </a:pPr>
            <a:r>
              <a:rPr lang="en-US" sz="1400" dirty="0">
                <a:solidFill>
                  <a:srgbClr val="1B2A24"/>
                </a:solidFill>
              </a:rPr>
              <a:t>Tanggal surat</a:t>
            </a:r>
            <a:endParaRPr lang="en-US" sz="1400" dirty="0"/>
          </a:p>
          <a:p>
            <a:pPr marL="342900" indent="-342900">
              <a:spcAft>
                <a:spcPts val="600"/>
              </a:spcAft>
              <a:buSzPct val="100000"/>
              <a:buChar char="•"/>
            </a:pPr>
            <a:r>
              <a:rPr lang="en-US" sz="1400" dirty="0">
                <a:solidFill>
                  <a:srgbClr val="1B2A24"/>
                </a:solidFill>
              </a:rPr>
              <a:t>SHA-256 isi surat</a:t>
            </a:r>
            <a:endParaRPr lang="en-US" sz="1400" dirty="0"/>
          </a:p>
          <a:p>
            <a:pPr marL="342900" indent="-342900">
              <a:spcAft>
                <a:spcPts val="600"/>
              </a:spcAft>
              <a:buSzPct val="100000"/>
              <a:buChar char="•"/>
            </a:pPr>
            <a:r>
              <a:rPr lang="en-US" sz="1400" dirty="0">
                <a:solidFill>
                  <a:srgbClr val="1B2A24"/>
                </a:solidFill>
              </a:rPr>
              <a:t>Versi format</a:t>
            </a:r>
            <a:endParaRPr lang="en-US" sz="1400" dirty="0"/>
          </a:p>
        </p:txBody>
      </p:sp>
      <p:sp>
        <p:nvSpPr>
          <p:cNvPr id="20" name="Kartu"/>
          <p:cNvSpPr/>
          <p:nvPr/>
        </p:nvSpPr>
        <p:spPr>
          <a:xfrm>
            <a:off x="4367784" y="2926080"/>
            <a:ext cx="3453384" cy="3200400"/>
          </a:xfrm>
          <a:prstGeom prst="roundRect">
            <a:avLst>
              <a:gd name="adj" fmla="val 3429"/>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4642104" y="3063240"/>
            <a:ext cx="2904744" cy="457200"/>
          </a:xfrm>
          <a:prstGeom prst="rect">
            <a:avLst/>
          </a:prstGeom>
          <a:noFill/>
          <a:ln/>
        </p:spPr>
        <p:txBody>
          <a:bodyPr wrap="square" lIns="0" tIns="0" rIns="0" bIns="0" rtlCol="0" anchor="ctr"/>
          <a:lstStyle/>
          <a:p>
            <a:pPr indent="0" marL="0">
              <a:buNone/>
            </a:pPr>
            <a:r>
              <a:rPr lang="en-US" sz="1900" b="1" dirty="0">
                <a:solidFill>
                  <a:srgbClr val="004D2C"/>
                </a:solidFill>
                <a:latin typeface="Cambria" pitchFamily="34" charset="0"/>
                <a:ea typeface="Cambria" pitchFamily="34" charset="-122"/>
                <a:cs typeface="Cambria" pitchFamily="34" charset="-120"/>
              </a:rPr>
              <a:t>Saat QR dipindai</a:t>
            </a:r>
            <a:endParaRPr lang="en-US" sz="1900" dirty="0"/>
          </a:p>
        </p:txBody>
      </p:sp>
      <p:sp>
        <p:nvSpPr>
          <p:cNvPr id="22" name="Text 20"/>
          <p:cNvSpPr txBox="1"/>
          <p:nvPr/>
        </p:nvSpPr>
        <p:spPr>
          <a:xfrm>
            <a:off x="4642104" y="3611880"/>
            <a:ext cx="2904744" cy="24231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rgbClr val="1B2A24"/>
                </a:solidFill>
              </a:rPr>
              <a:t>Peramban membuka halaman verifikasi statis</a:t>
            </a:r>
            <a:endParaRPr lang="en-US" sz="1400" dirty="0"/>
          </a:p>
          <a:p>
            <a:pPr marL="342900" indent="-342900">
              <a:spcAft>
                <a:spcPts val="600"/>
              </a:spcAft>
              <a:buSzPct val="100000"/>
              <a:buFont typeface="+mj-lt"/>
              <a:buAutoNum type="arabicPeriod" startAt="1"/>
            </a:pPr>
            <a:r>
              <a:rPr lang="en-US" sz="1400" dirty="0">
                <a:solidFill>
                  <a:srgbClr val="1B2A24"/>
                </a:solidFill>
              </a:rPr>
              <a:t>Bagian setelah # dibaca di perangkat Anda, tidak dikirim ke server</a:t>
            </a:r>
            <a:endParaRPr lang="en-US" sz="1400" dirty="0"/>
          </a:p>
          <a:p>
            <a:pPr marL="342900" indent="-342900">
              <a:spcAft>
                <a:spcPts val="600"/>
              </a:spcAft>
              <a:buSzPct val="100000"/>
              <a:buFont typeface="+mj-lt"/>
              <a:buAutoNum type="arabicPeriod" startAt="1"/>
            </a:pPr>
            <a:r>
              <a:rPr lang="en-US" sz="1400" dirty="0">
                <a:solidFill>
                  <a:srgbClr val="1B2A24"/>
                </a:solidFill>
              </a:rPr>
              <a:t>Tanda tangan diperiksa dengan kunci publik yang tertanam</a:t>
            </a:r>
            <a:endParaRPr lang="en-US" sz="1400" dirty="0"/>
          </a:p>
          <a:p>
            <a:pPr marL="342900" indent="-342900">
              <a:spcAft>
                <a:spcPts val="600"/>
              </a:spcAft>
              <a:buSzPct val="100000"/>
              <a:buFont typeface="+mj-lt"/>
              <a:buAutoNum type="arabicPeriod" startAt="1"/>
            </a:pPr>
            <a:r>
              <a:rPr lang="en-US" sz="1400" dirty="0">
                <a:solidFill>
                  <a:srgbClr val="1B2A24"/>
                </a:solidFill>
              </a:rPr>
              <a:t>Hasil: Dokumen Asli atau Tidak Valid</a:t>
            </a:r>
            <a:endParaRPr lang="en-US" sz="1400" dirty="0"/>
          </a:p>
        </p:txBody>
      </p:sp>
      <p:sp>
        <p:nvSpPr>
          <p:cNvPr id="23" name="Kartu"/>
          <p:cNvSpPr/>
          <p:nvPr/>
        </p:nvSpPr>
        <p:spPr>
          <a:xfrm>
            <a:off x="8186928" y="2926080"/>
            <a:ext cx="3453384" cy="3200400"/>
          </a:xfrm>
          <a:prstGeom prst="roundRect">
            <a:avLst>
              <a:gd name="adj" fmla="val 3429"/>
            </a:avLst>
          </a:prstGeom>
          <a:solidFill>
            <a:srgbClr val="FFF8E1"/>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8461248" y="3063240"/>
            <a:ext cx="2904744" cy="457200"/>
          </a:xfrm>
          <a:prstGeom prst="rect">
            <a:avLst/>
          </a:prstGeom>
          <a:noFill/>
          <a:ln/>
        </p:spPr>
        <p:txBody>
          <a:bodyPr wrap="square" lIns="0" tIns="0" rIns="0" bIns="0" rtlCol="0" anchor="ctr"/>
          <a:lstStyle/>
          <a:p>
            <a:pPr indent="0" marL="0">
              <a:buNone/>
            </a:pPr>
            <a:r>
              <a:rPr lang="en-US" sz="1900" b="1" dirty="0">
                <a:solidFill>
                  <a:srgbClr val="8A5A00"/>
                </a:solidFill>
                <a:latin typeface="Cambria" pitchFamily="34" charset="0"/>
                <a:ea typeface="Cambria" pitchFamily="34" charset="-122"/>
                <a:cs typeface="Cambria" pitchFamily="34" charset="-120"/>
              </a:rPr>
              <a:t>Yang perlu diingat</a:t>
            </a:r>
            <a:endParaRPr lang="en-US" sz="1900" dirty="0"/>
          </a:p>
        </p:txBody>
      </p:sp>
      <p:sp>
        <p:nvSpPr>
          <p:cNvPr id="25" name="Text 23"/>
          <p:cNvSpPr txBox="1"/>
          <p:nvPr/>
        </p:nvSpPr>
        <p:spPr>
          <a:xfrm>
            <a:off x="8461248" y="3611880"/>
            <a:ext cx="2904744" cy="2423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2A24"/>
                </a:solidFill>
              </a:rPr>
              <a:t>Cocokkan nomor, perihal, dan nama di layar dengan surat di tangan</a:t>
            </a:r>
            <a:endParaRPr lang="en-US" sz="1400" dirty="0"/>
          </a:p>
          <a:p>
            <a:pPr marL="342900" indent="-342900">
              <a:spcAft>
                <a:spcPts val="600"/>
              </a:spcAft>
              <a:buSzPct val="100000"/>
              <a:buChar char="•"/>
            </a:pPr>
            <a:r>
              <a:rPr lang="en-US" sz="1400" dirty="0">
                <a:solidFill>
                  <a:srgbClr val="1B2A24"/>
                </a:solidFill>
              </a:rPr>
              <a:t>Pembatalan hanya terlihat di verifikasi lengkap oleh TU</a:t>
            </a:r>
            <a:endParaRPr lang="en-US" sz="1400" dirty="0"/>
          </a:p>
          <a:p>
            <a:pPr marL="342900" indent="-342900">
              <a:spcAft>
                <a:spcPts val="600"/>
              </a:spcAft>
              <a:buSzPct val="100000"/>
              <a:buChar char="•"/>
            </a:pPr>
            <a:r>
              <a:rPr lang="en-US" sz="1400" dirty="0">
                <a:solidFill>
                  <a:srgbClr val="1B2A24"/>
                </a:solidFill>
              </a:rPr>
              <a:t>Isi surat tidak dirahasiakan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Keamanan dan jejak audit</a:t>
            </a:r>
            <a:endParaRPr lang="en-US" sz="3400" dirty="0"/>
          </a:p>
        </p:txBody>
      </p:sp>
      <p:sp>
        <p:nvSpPr>
          <p:cNvPr id="3" name="Kartu"/>
          <p:cNvSpPr/>
          <p:nvPr/>
        </p:nvSpPr>
        <p:spPr>
          <a:xfrm>
            <a:off x="548640" y="146304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Lingkar ikon"/>
          <p:cNvSpPr/>
          <p:nvPr/>
        </p:nvSpPr>
        <p:spPr>
          <a:xfrm>
            <a:off x="822960" y="1737360"/>
            <a:ext cx="594360" cy="594360"/>
          </a:xfrm>
          <a:prstGeom prst="ellipse">
            <a:avLst/>
          </a:prstGeom>
          <a:solidFill>
            <a:srgbClr val="EEF5F0"/>
          </a:solidFill>
          <a:ln w="12700">
            <a:solidFill>
              <a:srgbClr val="EEF5F0"/>
            </a:solidFill>
            <a:prstDash val="solid"/>
          </a:ln>
        </p:spPr>
      </p:sp>
      <p:pic>
        <p:nvPicPr>
          <p:cNvPr id="5" name="Image 0" descr="ikon FiWifi">    </p:cNvPr>
          <p:cNvPicPr>
            <a:picLocks noChangeAspect="1"/>
          </p:cNvPicPr>
          <p:nvPr/>
        </p:nvPicPr>
        <p:blipFill>
          <a:blip r:embed="rId1"/>
          <a:stretch>
            <a:fillRect/>
          </a:stretch>
        </p:blipFill>
        <p:spPr>
          <a:xfrm>
            <a:off x="971550" y="1885950"/>
            <a:ext cx="297180" cy="297180"/>
          </a:xfrm>
          <a:prstGeom prst="rect">
            <a:avLst/>
          </a:prstGeom>
        </p:spPr>
      </p:pic>
      <p:sp>
        <p:nvSpPr>
          <p:cNvPr id="6" name="Text 3"/>
          <p:cNvSpPr txBox="1"/>
          <p:nvPr/>
        </p:nvSpPr>
        <p:spPr>
          <a:xfrm>
            <a:off x="1600200" y="173736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Hanya jaringan kampus</a:t>
            </a:r>
            <a:endParaRPr lang="en-US" sz="1700" dirty="0"/>
          </a:p>
        </p:txBody>
      </p:sp>
      <p:sp>
        <p:nvSpPr>
          <p:cNvPr id="7" name="Text 4"/>
          <p:cNvSpPr txBox="1"/>
          <p:nvPr/>
        </p:nvSpPr>
        <p:spPr>
          <a:xfrm>
            <a:off x="822960" y="2514600"/>
            <a:ext cx="2904744" cy="822960"/>
          </a:xfrm>
          <a:prstGeom prst="rect">
            <a:avLst/>
          </a:prstGeom>
          <a:noFill/>
          <a:ln/>
        </p:spPr>
        <p:txBody>
          <a:bodyPr wrap="square" lIns="0" tIns="0" rIns="0" bIns="0" rtlCol="0" anchor="t"/>
          <a:lstStyle/>
          <a:p>
            <a:pPr indent="0" marL="0">
              <a:buNone/>
            </a:pPr>
            <a:r>
              <a:rPr lang="en-US" sz="1400" dirty="0">
                <a:solidFill>
                  <a:srgbClr val="1B2A24"/>
                </a:solidFill>
              </a:rPr>
              <a:t>IP di luar jaringan privat ditolak (403)</a:t>
            </a:r>
            <a:endParaRPr lang="en-US" sz="1400" dirty="0"/>
          </a:p>
        </p:txBody>
      </p:sp>
      <p:sp>
        <p:nvSpPr>
          <p:cNvPr id="8" name="Kartu"/>
          <p:cNvSpPr/>
          <p:nvPr/>
        </p:nvSpPr>
        <p:spPr>
          <a:xfrm>
            <a:off x="4367784" y="146304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9" name="Lingkar ikon"/>
          <p:cNvSpPr/>
          <p:nvPr/>
        </p:nvSpPr>
        <p:spPr>
          <a:xfrm>
            <a:off x="4642104" y="1737360"/>
            <a:ext cx="594360" cy="594360"/>
          </a:xfrm>
          <a:prstGeom prst="ellipse">
            <a:avLst/>
          </a:prstGeom>
          <a:solidFill>
            <a:srgbClr val="EEF5F0"/>
          </a:solidFill>
          <a:ln w="12700">
            <a:solidFill>
              <a:srgbClr val="EEF5F0"/>
            </a:solidFill>
            <a:prstDash val="solid"/>
          </a:ln>
        </p:spPr>
      </p:sp>
      <p:pic>
        <p:nvPicPr>
          <p:cNvPr id="10" name="Image 1" descr="ikon FiLock">    </p:cNvPr>
          <p:cNvPicPr>
            <a:picLocks noChangeAspect="1"/>
          </p:cNvPicPr>
          <p:nvPr/>
        </p:nvPicPr>
        <p:blipFill>
          <a:blip r:embed="rId2"/>
          <a:stretch>
            <a:fillRect/>
          </a:stretch>
        </p:blipFill>
        <p:spPr>
          <a:xfrm>
            <a:off x="4790694" y="1885950"/>
            <a:ext cx="297180" cy="297180"/>
          </a:xfrm>
          <a:prstGeom prst="rect">
            <a:avLst/>
          </a:prstGeom>
        </p:spPr>
      </p:pic>
      <p:sp>
        <p:nvSpPr>
          <p:cNvPr id="11" name="Text 7"/>
          <p:cNvSpPr txBox="1"/>
          <p:nvPr/>
        </p:nvSpPr>
        <p:spPr>
          <a:xfrm>
            <a:off x="5419344" y="173736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Login terlindungi</a:t>
            </a:r>
            <a:endParaRPr lang="en-US" sz="1700" dirty="0"/>
          </a:p>
        </p:txBody>
      </p:sp>
      <p:sp>
        <p:nvSpPr>
          <p:cNvPr id="12" name="Text 8"/>
          <p:cNvSpPr txBox="1"/>
          <p:nvPr/>
        </p:nvSpPr>
        <p:spPr>
          <a:xfrm>
            <a:off x="4642104" y="2514600"/>
            <a:ext cx="2904744" cy="822960"/>
          </a:xfrm>
          <a:prstGeom prst="rect">
            <a:avLst/>
          </a:prstGeom>
          <a:noFill/>
          <a:ln/>
        </p:spPr>
        <p:txBody>
          <a:bodyPr wrap="square" lIns="0" tIns="0" rIns="0" bIns="0" rtlCol="0" anchor="t"/>
          <a:lstStyle/>
          <a:p>
            <a:pPr indent="0" marL="0">
              <a:buNone/>
            </a:pPr>
            <a:r>
              <a:rPr lang="en-US" sz="1400" dirty="0">
                <a:solidFill>
                  <a:srgbClr val="1B2A24"/>
                </a:solidFill>
              </a:rPr>
              <a:t>Kata sandi ter-hash; 5 kali salah dalam semenit memblokir sementara</a:t>
            </a:r>
            <a:endParaRPr lang="en-US" sz="1400" dirty="0"/>
          </a:p>
        </p:txBody>
      </p:sp>
      <p:sp>
        <p:nvSpPr>
          <p:cNvPr id="13" name="Kartu"/>
          <p:cNvSpPr/>
          <p:nvPr/>
        </p:nvSpPr>
        <p:spPr>
          <a:xfrm>
            <a:off x="8186928" y="146304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4" name="Lingkar ikon"/>
          <p:cNvSpPr/>
          <p:nvPr/>
        </p:nvSpPr>
        <p:spPr>
          <a:xfrm>
            <a:off x="8461248" y="1737360"/>
            <a:ext cx="594360" cy="594360"/>
          </a:xfrm>
          <a:prstGeom prst="ellipse">
            <a:avLst/>
          </a:prstGeom>
          <a:solidFill>
            <a:srgbClr val="EEF5F0"/>
          </a:solidFill>
          <a:ln w="12700">
            <a:solidFill>
              <a:srgbClr val="EEF5F0"/>
            </a:solidFill>
            <a:prstDash val="solid"/>
          </a:ln>
        </p:spPr>
      </p:sp>
      <p:pic>
        <p:nvPicPr>
          <p:cNvPr id="15" name="Image 2" descr="ikon FiKey">    </p:cNvPr>
          <p:cNvPicPr>
            <a:picLocks noChangeAspect="1"/>
          </p:cNvPicPr>
          <p:nvPr/>
        </p:nvPicPr>
        <p:blipFill>
          <a:blip r:embed="rId3"/>
          <a:stretch>
            <a:fillRect/>
          </a:stretch>
        </p:blipFill>
        <p:spPr>
          <a:xfrm>
            <a:off x="8609838" y="1885950"/>
            <a:ext cx="297180" cy="297180"/>
          </a:xfrm>
          <a:prstGeom prst="rect">
            <a:avLst/>
          </a:prstGeom>
        </p:spPr>
      </p:pic>
      <p:sp>
        <p:nvSpPr>
          <p:cNvPr id="16" name="Text 11"/>
          <p:cNvSpPr txBox="1"/>
          <p:nvPr/>
        </p:nvSpPr>
        <p:spPr>
          <a:xfrm>
            <a:off x="9238488" y="173736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Tanda tangan terbatas</a:t>
            </a:r>
            <a:endParaRPr lang="en-US" sz="1700" dirty="0"/>
          </a:p>
        </p:txBody>
      </p:sp>
      <p:sp>
        <p:nvSpPr>
          <p:cNvPr id="17" name="Text 12"/>
          <p:cNvSpPr txBox="1"/>
          <p:nvPr/>
        </p:nvSpPr>
        <p:spPr>
          <a:xfrm>
            <a:off x="8461248" y="2514600"/>
            <a:ext cx="2904744" cy="822960"/>
          </a:xfrm>
          <a:prstGeom prst="rect">
            <a:avLst/>
          </a:prstGeom>
          <a:noFill/>
          <a:ln/>
        </p:spPr>
        <p:txBody>
          <a:bodyPr wrap="square" lIns="0" tIns="0" rIns="0" bIns="0" rtlCol="0" anchor="t"/>
          <a:lstStyle/>
          <a:p>
            <a:pPr indent="0" marL="0">
              <a:buNone/>
            </a:pPr>
            <a:r>
              <a:rPr lang="en-US" sz="1400" dirty="0">
                <a:solidFill>
                  <a:srgbClr val="1B2A24"/>
                </a:solidFill>
              </a:rPr>
              <a:t>Hanya pemegang jabatan; wajib konfirmasi kata sandi</a:t>
            </a:r>
            <a:endParaRPr lang="en-US" sz="1400" dirty="0"/>
          </a:p>
        </p:txBody>
      </p:sp>
      <p:sp>
        <p:nvSpPr>
          <p:cNvPr id="18" name="Kartu"/>
          <p:cNvSpPr/>
          <p:nvPr/>
        </p:nvSpPr>
        <p:spPr>
          <a:xfrm>
            <a:off x="548640" y="384048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9" name="Lingkar ikon"/>
          <p:cNvSpPr/>
          <p:nvPr/>
        </p:nvSpPr>
        <p:spPr>
          <a:xfrm>
            <a:off x="822960" y="4114800"/>
            <a:ext cx="594360" cy="594360"/>
          </a:xfrm>
          <a:prstGeom prst="ellipse">
            <a:avLst/>
          </a:prstGeom>
          <a:solidFill>
            <a:srgbClr val="EEF5F0"/>
          </a:solidFill>
          <a:ln w="12700">
            <a:solidFill>
              <a:srgbClr val="EEF5F0"/>
            </a:solidFill>
            <a:prstDash val="solid"/>
          </a:ln>
        </p:spPr>
      </p:sp>
      <p:pic>
        <p:nvPicPr>
          <p:cNvPr id="20" name="Image 3" descr="ikon FiUsers">    </p:cNvPr>
          <p:cNvPicPr>
            <a:picLocks noChangeAspect="1"/>
          </p:cNvPicPr>
          <p:nvPr/>
        </p:nvPicPr>
        <p:blipFill>
          <a:blip r:embed="rId4"/>
          <a:stretch>
            <a:fillRect/>
          </a:stretch>
        </p:blipFill>
        <p:spPr>
          <a:xfrm>
            <a:off x="971550" y="4263390"/>
            <a:ext cx="297180" cy="297180"/>
          </a:xfrm>
          <a:prstGeom prst="rect">
            <a:avLst/>
          </a:prstGeom>
        </p:spPr>
      </p:pic>
      <p:sp>
        <p:nvSpPr>
          <p:cNvPr id="21" name="Text 15"/>
          <p:cNvSpPr txBox="1"/>
          <p:nvPr/>
        </p:nvSpPr>
        <p:spPr>
          <a:xfrm>
            <a:off x="1600200" y="411480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Hak akses per peran</a:t>
            </a:r>
            <a:endParaRPr lang="en-US" sz="1700" dirty="0"/>
          </a:p>
        </p:txBody>
      </p:sp>
      <p:sp>
        <p:nvSpPr>
          <p:cNvPr id="22" name="Text 16"/>
          <p:cNvSpPr txBox="1"/>
          <p:nvPr/>
        </p:nvSpPr>
        <p:spPr>
          <a:xfrm>
            <a:off x="822960" y="4892040"/>
            <a:ext cx="2904744" cy="822960"/>
          </a:xfrm>
          <a:prstGeom prst="rect">
            <a:avLst/>
          </a:prstGeom>
          <a:noFill/>
          <a:ln/>
        </p:spPr>
        <p:txBody>
          <a:bodyPr wrap="square" lIns="0" tIns="0" rIns="0" bIns="0" rtlCol="0" anchor="t"/>
          <a:lstStyle/>
          <a:p>
            <a:pPr indent="0" marL="0">
              <a:buNone/>
            </a:pPr>
            <a:r>
              <a:rPr lang="en-US" sz="1400" dirty="0">
                <a:solidFill>
                  <a:srgbClr val="1B2A24"/>
                </a:solidFill>
              </a:rPr>
              <a:t>Dicek ulang di server menurut peran, prodi, dan status surat</a:t>
            </a:r>
            <a:endParaRPr lang="en-US" sz="1400" dirty="0"/>
          </a:p>
        </p:txBody>
      </p:sp>
      <p:sp>
        <p:nvSpPr>
          <p:cNvPr id="23" name="Kartu"/>
          <p:cNvSpPr/>
          <p:nvPr/>
        </p:nvSpPr>
        <p:spPr>
          <a:xfrm>
            <a:off x="4367784" y="384048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4" name="Lingkar ikon"/>
          <p:cNvSpPr/>
          <p:nvPr/>
        </p:nvSpPr>
        <p:spPr>
          <a:xfrm>
            <a:off x="4642104" y="4114800"/>
            <a:ext cx="594360" cy="594360"/>
          </a:xfrm>
          <a:prstGeom prst="ellipse">
            <a:avLst/>
          </a:prstGeom>
          <a:solidFill>
            <a:srgbClr val="EEF5F0"/>
          </a:solidFill>
          <a:ln w="12700">
            <a:solidFill>
              <a:srgbClr val="EEF5F0"/>
            </a:solidFill>
            <a:prstDash val="solid"/>
          </a:ln>
        </p:spPr>
      </p:sp>
      <p:pic>
        <p:nvPicPr>
          <p:cNvPr id="25" name="Image 4" descr="ikon FiEyeOff">    </p:cNvPr>
          <p:cNvPicPr>
            <a:picLocks noChangeAspect="1"/>
          </p:cNvPicPr>
          <p:nvPr/>
        </p:nvPicPr>
        <p:blipFill>
          <a:blip r:embed="rId5"/>
          <a:stretch>
            <a:fillRect/>
          </a:stretch>
        </p:blipFill>
        <p:spPr>
          <a:xfrm>
            <a:off x="4790694" y="4263390"/>
            <a:ext cx="297180" cy="297180"/>
          </a:xfrm>
          <a:prstGeom prst="rect">
            <a:avLst/>
          </a:prstGeom>
        </p:spPr>
      </p:pic>
      <p:sp>
        <p:nvSpPr>
          <p:cNvPr id="26" name="Text 19"/>
          <p:cNvSpPr txBox="1"/>
          <p:nvPr/>
        </p:nvSpPr>
        <p:spPr>
          <a:xfrm>
            <a:off x="5419344" y="411480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Surat rahasia</a:t>
            </a:r>
            <a:endParaRPr lang="en-US" sz="1700" dirty="0"/>
          </a:p>
        </p:txBody>
      </p:sp>
      <p:sp>
        <p:nvSpPr>
          <p:cNvPr id="27" name="Text 20"/>
          <p:cNvSpPr txBox="1"/>
          <p:nvPr/>
        </p:nvSpPr>
        <p:spPr>
          <a:xfrm>
            <a:off x="4642104" y="4892040"/>
            <a:ext cx="2904744" cy="822960"/>
          </a:xfrm>
          <a:prstGeom prst="rect">
            <a:avLst/>
          </a:prstGeom>
          <a:noFill/>
          <a:ln/>
        </p:spPr>
        <p:txBody>
          <a:bodyPr wrap="square" lIns="0" tIns="0" rIns="0" bIns="0" rtlCol="0" anchor="t"/>
          <a:lstStyle/>
          <a:p>
            <a:pPr indent="0" marL="0">
              <a:buNone/>
            </a:pPr>
            <a:r>
              <a:rPr lang="en-US" sz="1400" dirty="0">
                <a:solidFill>
                  <a:srgbClr val="1B2A24"/>
                </a:solidFill>
              </a:rPr>
              <a:t>Disembunyikan dari Kaprodi dan disamarkan di Pembukuan</a:t>
            </a:r>
            <a:endParaRPr lang="en-US" sz="1400" dirty="0"/>
          </a:p>
        </p:txBody>
      </p:sp>
      <p:sp>
        <p:nvSpPr>
          <p:cNvPr id="28" name="Kartu"/>
          <p:cNvSpPr/>
          <p:nvPr/>
        </p:nvSpPr>
        <p:spPr>
          <a:xfrm>
            <a:off x="8186928" y="3840480"/>
            <a:ext cx="3453384" cy="2011680"/>
          </a:xfrm>
          <a:prstGeom prst="roundRect">
            <a:avLst>
              <a:gd name="adj" fmla="val 5455"/>
            </a:avLst>
          </a:prstGeom>
          <a:solidFill>
            <a:srgbClr val="FFFFFF"/>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29" name="Lingkar ikon"/>
          <p:cNvSpPr/>
          <p:nvPr/>
        </p:nvSpPr>
        <p:spPr>
          <a:xfrm>
            <a:off x="8461248" y="4114800"/>
            <a:ext cx="594360" cy="594360"/>
          </a:xfrm>
          <a:prstGeom prst="ellipse">
            <a:avLst/>
          </a:prstGeom>
          <a:solidFill>
            <a:srgbClr val="EEF5F0"/>
          </a:solidFill>
          <a:ln w="12700">
            <a:solidFill>
              <a:srgbClr val="EEF5F0"/>
            </a:solidFill>
            <a:prstDash val="solid"/>
          </a:ln>
        </p:spPr>
      </p:sp>
      <p:pic>
        <p:nvPicPr>
          <p:cNvPr id="30" name="Image 5" descr="ikon FiList">    </p:cNvPr>
          <p:cNvPicPr>
            <a:picLocks noChangeAspect="1"/>
          </p:cNvPicPr>
          <p:nvPr/>
        </p:nvPicPr>
        <p:blipFill>
          <a:blip r:embed="rId6"/>
          <a:stretch>
            <a:fillRect/>
          </a:stretch>
        </p:blipFill>
        <p:spPr>
          <a:xfrm>
            <a:off x="8609838" y="4263390"/>
            <a:ext cx="297180" cy="297180"/>
          </a:xfrm>
          <a:prstGeom prst="rect">
            <a:avLst/>
          </a:prstGeom>
        </p:spPr>
      </p:pic>
      <p:sp>
        <p:nvSpPr>
          <p:cNvPr id="31" name="Text 23"/>
          <p:cNvSpPr txBox="1"/>
          <p:nvPr/>
        </p:nvSpPr>
        <p:spPr>
          <a:xfrm>
            <a:off x="9238488" y="4114800"/>
            <a:ext cx="2173224" cy="594360"/>
          </a:xfrm>
          <a:prstGeom prst="rect">
            <a:avLst/>
          </a:prstGeom>
          <a:noFill/>
          <a:ln/>
        </p:spPr>
        <p:txBody>
          <a:bodyPr wrap="square" lIns="0" tIns="0" rIns="0" bIns="0" rtlCol="0" anchor="ctr"/>
          <a:lstStyle/>
          <a:p>
            <a:pPr indent="0" marL="0">
              <a:buNone/>
            </a:pPr>
            <a:r>
              <a:rPr lang="en-US" sz="1700" b="1" dirty="0">
                <a:solidFill>
                  <a:srgbClr val="004D2C"/>
                </a:solidFill>
                <a:latin typeface="Cambria" pitchFamily="34" charset="0"/>
                <a:ea typeface="Cambria" pitchFamily="34" charset="-122"/>
                <a:cs typeface="Cambria" pitchFamily="34" charset="-120"/>
              </a:rPr>
              <a:t>Jejak audit</a:t>
            </a:r>
            <a:endParaRPr lang="en-US" sz="1700" dirty="0"/>
          </a:p>
        </p:txBody>
      </p:sp>
      <p:sp>
        <p:nvSpPr>
          <p:cNvPr id="32" name="Text 24"/>
          <p:cNvSpPr txBox="1"/>
          <p:nvPr/>
        </p:nvSpPr>
        <p:spPr>
          <a:xfrm>
            <a:off x="8461248" y="4892040"/>
            <a:ext cx="2904744" cy="822960"/>
          </a:xfrm>
          <a:prstGeom prst="rect">
            <a:avLst/>
          </a:prstGeom>
          <a:noFill/>
          <a:ln/>
        </p:spPr>
        <p:txBody>
          <a:bodyPr wrap="square" lIns="0" tIns="0" rIns="0" bIns="0" rtlCol="0" anchor="t"/>
          <a:lstStyle/>
          <a:p>
            <a:pPr indent="0" marL="0">
              <a:buNone/>
            </a:pPr>
            <a:r>
              <a:rPr lang="en-US" sz="1400" dirty="0">
                <a:solidFill>
                  <a:srgbClr val="1B2A24"/>
                </a:solidFill>
              </a:rPr>
              <a:t>Log aktivitas, riwayat persetujuan, dan lembar riwayat pada PDF</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Berjalan lokal, dijaga backup 3-2-1</a:t>
            </a:r>
            <a:endParaRPr lang="en-US" sz="3400" dirty="0"/>
          </a:p>
        </p:txBody>
      </p:sp>
      <p:sp>
        <p:nvSpPr>
          <p:cNvPr id="3" name="Kartu"/>
          <p:cNvSpPr/>
          <p:nvPr/>
        </p:nvSpPr>
        <p:spPr>
          <a:xfrm>
            <a:off x="548640" y="1463040"/>
            <a:ext cx="3383280" cy="2194560"/>
          </a:xfrm>
          <a:prstGeom prst="roundRect">
            <a:avLst>
              <a:gd name="adj" fmla="val 5000"/>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68680" y="1554480"/>
            <a:ext cx="1097280" cy="1371600"/>
          </a:xfrm>
          <a:prstGeom prst="rect">
            <a:avLst/>
          </a:prstGeom>
          <a:noFill/>
          <a:ln/>
        </p:spPr>
        <p:txBody>
          <a:bodyPr wrap="square" lIns="0" tIns="0" rIns="0" bIns="0" rtlCol="0" anchor="ctr"/>
          <a:lstStyle/>
          <a:p>
            <a:pPr indent="0" marL="0">
              <a:buNone/>
            </a:pPr>
            <a:r>
              <a:rPr lang="en-US" sz="7200" b="1" dirty="0">
                <a:solidFill>
                  <a:srgbClr val="004D2C"/>
                </a:solidFill>
                <a:latin typeface="Cambria" pitchFamily="34" charset="0"/>
                <a:ea typeface="Cambria" pitchFamily="34" charset="-122"/>
                <a:cs typeface="Cambria" pitchFamily="34" charset="-120"/>
              </a:rPr>
              <a:t>3</a:t>
            </a:r>
            <a:endParaRPr lang="en-US" sz="7200" dirty="0"/>
          </a:p>
        </p:txBody>
      </p:sp>
      <p:sp>
        <p:nvSpPr>
          <p:cNvPr id="5" name="Text 3"/>
          <p:cNvSpPr txBox="1"/>
          <p:nvPr/>
        </p:nvSpPr>
        <p:spPr>
          <a:xfrm>
            <a:off x="1920240" y="1783080"/>
            <a:ext cx="1828800" cy="457200"/>
          </a:xfrm>
          <a:prstGeom prst="rect">
            <a:avLst/>
          </a:prstGeom>
          <a:noFill/>
          <a:ln/>
        </p:spPr>
        <p:txBody>
          <a:bodyPr wrap="square" lIns="0" tIns="0" rIns="0" bIns="0" rtlCol="0" anchor="ctr"/>
          <a:lstStyle/>
          <a:p>
            <a:pPr indent="0" marL="0">
              <a:buNone/>
            </a:pPr>
            <a:r>
              <a:rPr lang="en-US" sz="1800" b="1" dirty="0">
                <a:solidFill>
                  <a:srgbClr val="004D2C"/>
                </a:solidFill>
              </a:rPr>
              <a:t>salinan data</a:t>
            </a:r>
            <a:endParaRPr lang="en-US" sz="1800" dirty="0"/>
          </a:p>
        </p:txBody>
      </p:sp>
      <p:sp>
        <p:nvSpPr>
          <p:cNvPr id="6" name="Text 4"/>
          <p:cNvSpPr txBox="1"/>
          <p:nvPr/>
        </p:nvSpPr>
        <p:spPr>
          <a:xfrm>
            <a:off x="868680" y="2834640"/>
            <a:ext cx="2743200" cy="731520"/>
          </a:xfrm>
          <a:prstGeom prst="rect">
            <a:avLst/>
          </a:prstGeom>
          <a:noFill/>
          <a:ln/>
        </p:spPr>
        <p:txBody>
          <a:bodyPr wrap="square" lIns="0" tIns="0" rIns="0" bIns="0" rtlCol="0" anchor="t"/>
          <a:lstStyle/>
          <a:p>
            <a:pPr indent="0" marL="0">
              <a:buNone/>
            </a:pPr>
            <a:r>
              <a:rPr lang="en-US" sz="1400" dirty="0">
                <a:solidFill>
                  <a:srgbClr val="1B2A24"/>
                </a:solidFill>
              </a:rPr>
              <a:t>server, HDD eksternal, flashdisk arsip</a:t>
            </a:r>
            <a:endParaRPr lang="en-US" sz="1400" dirty="0"/>
          </a:p>
        </p:txBody>
      </p:sp>
      <p:sp>
        <p:nvSpPr>
          <p:cNvPr id="7" name="Kartu"/>
          <p:cNvSpPr/>
          <p:nvPr/>
        </p:nvSpPr>
        <p:spPr>
          <a:xfrm>
            <a:off x="4251960" y="1463040"/>
            <a:ext cx="3383280" cy="2194560"/>
          </a:xfrm>
          <a:prstGeom prst="roundRect">
            <a:avLst>
              <a:gd name="adj" fmla="val 5000"/>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4572000" y="1554480"/>
            <a:ext cx="1097280" cy="1371600"/>
          </a:xfrm>
          <a:prstGeom prst="rect">
            <a:avLst/>
          </a:prstGeom>
          <a:noFill/>
          <a:ln/>
        </p:spPr>
        <p:txBody>
          <a:bodyPr wrap="square" lIns="0" tIns="0" rIns="0" bIns="0" rtlCol="0" anchor="ctr"/>
          <a:lstStyle/>
          <a:p>
            <a:pPr indent="0" marL="0">
              <a:buNone/>
            </a:pPr>
            <a:r>
              <a:rPr lang="en-US" sz="7200" b="1" dirty="0">
                <a:solidFill>
                  <a:srgbClr val="004D2C"/>
                </a:solidFill>
                <a:latin typeface="Cambria" pitchFamily="34" charset="0"/>
                <a:ea typeface="Cambria" pitchFamily="34" charset="-122"/>
                <a:cs typeface="Cambria" pitchFamily="34" charset="-120"/>
              </a:rPr>
              <a:t>2</a:t>
            </a:r>
            <a:endParaRPr lang="en-US" sz="7200" dirty="0"/>
          </a:p>
        </p:txBody>
      </p:sp>
      <p:sp>
        <p:nvSpPr>
          <p:cNvPr id="9" name="Text 7"/>
          <p:cNvSpPr txBox="1"/>
          <p:nvPr/>
        </p:nvSpPr>
        <p:spPr>
          <a:xfrm>
            <a:off x="5623560" y="1783080"/>
            <a:ext cx="1828800" cy="457200"/>
          </a:xfrm>
          <a:prstGeom prst="rect">
            <a:avLst/>
          </a:prstGeom>
          <a:noFill/>
          <a:ln/>
        </p:spPr>
        <p:txBody>
          <a:bodyPr wrap="square" lIns="0" tIns="0" rIns="0" bIns="0" rtlCol="0" anchor="ctr"/>
          <a:lstStyle/>
          <a:p>
            <a:pPr indent="0" marL="0">
              <a:buNone/>
            </a:pPr>
            <a:r>
              <a:rPr lang="en-US" sz="1800" b="1" dirty="0">
                <a:solidFill>
                  <a:srgbClr val="004D2C"/>
                </a:solidFill>
              </a:rPr>
              <a:t>jenis media</a:t>
            </a:r>
            <a:endParaRPr lang="en-US" sz="1800" dirty="0"/>
          </a:p>
        </p:txBody>
      </p:sp>
      <p:sp>
        <p:nvSpPr>
          <p:cNvPr id="10" name="Text 8"/>
          <p:cNvSpPr txBox="1"/>
          <p:nvPr/>
        </p:nvSpPr>
        <p:spPr>
          <a:xfrm>
            <a:off x="4572000" y="2834640"/>
            <a:ext cx="2743200" cy="731520"/>
          </a:xfrm>
          <a:prstGeom prst="rect">
            <a:avLst/>
          </a:prstGeom>
          <a:noFill/>
          <a:ln/>
        </p:spPr>
        <p:txBody>
          <a:bodyPr wrap="square" lIns="0" tIns="0" rIns="0" bIns="0" rtlCol="0" anchor="t"/>
          <a:lstStyle/>
          <a:p>
            <a:pPr indent="0" marL="0">
              <a:buNone/>
            </a:pPr>
            <a:r>
              <a:rPr lang="en-US" sz="1400" dirty="0">
                <a:solidFill>
                  <a:srgbClr val="1B2A24"/>
                </a:solidFill>
              </a:rPr>
              <a:t>HDD dan flashdisk</a:t>
            </a:r>
            <a:endParaRPr lang="en-US" sz="1400" dirty="0"/>
          </a:p>
        </p:txBody>
      </p:sp>
      <p:sp>
        <p:nvSpPr>
          <p:cNvPr id="11" name="Kartu"/>
          <p:cNvSpPr/>
          <p:nvPr/>
        </p:nvSpPr>
        <p:spPr>
          <a:xfrm>
            <a:off x="7955280" y="1463040"/>
            <a:ext cx="3383280" cy="2194560"/>
          </a:xfrm>
          <a:prstGeom prst="roundRect">
            <a:avLst>
              <a:gd name="adj" fmla="val 5000"/>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8275320" y="1554480"/>
            <a:ext cx="1097280" cy="1371600"/>
          </a:xfrm>
          <a:prstGeom prst="rect">
            <a:avLst/>
          </a:prstGeom>
          <a:noFill/>
          <a:ln/>
        </p:spPr>
        <p:txBody>
          <a:bodyPr wrap="square" lIns="0" tIns="0" rIns="0" bIns="0" rtlCol="0" anchor="ctr"/>
          <a:lstStyle/>
          <a:p>
            <a:pPr indent="0" marL="0">
              <a:buNone/>
            </a:pPr>
            <a:r>
              <a:rPr lang="en-US" sz="7200" b="1" dirty="0">
                <a:solidFill>
                  <a:srgbClr val="004D2C"/>
                </a:solidFill>
                <a:latin typeface="Cambria" pitchFamily="34" charset="0"/>
                <a:ea typeface="Cambria" pitchFamily="34" charset="-122"/>
                <a:cs typeface="Cambria" pitchFamily="34" charset="-120"/>
              </a:rPr>
              <a:t>1</a:t>
            </a:r>
            <a:endParaRPr lang="en-US" sz="7200" dirty="0"/>
          </a:p>
        </p:txBody>
      </p:sp>
      <p:sp>
        <p:nvSpPr>
          <p:cNvPr id="13" name="Text 11"/>
          <p:cNvSpPr txBox="1"/>
          <p:nvPr/>
        </p:nvSpPr>
        <p:spPr>
          <a:xfrm>
            <a:off x="9326880" y="1783080"/>
            <a:ext cx="1828800" cy="457200"/>
          </a:xfrm>
          <a:prstGeom prst="rect">
            <a:avLst/>
          </a:prstGeom>
          <a:noFill/>
          <a:ln/>
        </p:spPr>
        <p:txBody>
          <a:bodyPr wrap="square" lIns="0" tIns="0" rIns="0" bIns="0" rtlCol="0" anchor="ctr"/>
          <a:lstStyle/>
          <a:p>
            <a:pPr indent="0" marL="0">
              <a:buNone/>
            </a:pPr>
            <a:r>
              <a:rPr lang="en-US" sz="1800" b="1" dirty="0">
                <a:solidFill>
                  <a:srgbClr val="004D2C"/>
                </a:solidFill>
              </a:rPr>
              <a:t>di luar lokasi</a:t>
            </a:r>
            <a:endParaRPr lang="en-US" sz="1800" dirty="0"/>
          </a:p>
        </p:txBody>
      </p:sp>
      <p:sp>
        <p:nvSpPr>
          <p:cNvPr id="14" name="Text 12"/>
          <p:cNvSpPr txBox="1"/>
          <p:nvPr/>
        </p:nvSpPr>
        <p:spPr>
          <a:xfrm>
            <a:off x="8275320" y="2834640"/>
            <a:ext cx="2743200" cy="731520"/>
          </a:xfrm>
          <a:prstGeom prst="rect">
            <a:avLst/>
          </a:prstGeom>
          <a:noFill/>
          <a:ln/>
        </p:spPr>
        <p:txBody>
          <a:bodyPr wrap="square" lIns="0" tIns="0" rIns="0" bIns="0" rtlCol="0" anchor="t"/>
          <a:lstStyle/>
          <a:p>
            <a:pPr indent="0" marL="0">
              <a:buNone/>
            </a:pPr>
            <a:r>
              <a:rPr lang="en-US" sz="1400" dirty="0">
                <a:solidFill>
                  <a:srgbClr val="1B2A24"/>
                </a:solidFill>
              </a:rPr>
              <a:t>flashdisk di brankas Dekanat; Google Drive opsional</a:t>
            </a:r>
            <a:endParaRPr lang="en-US" sz="1400" dirty="0"/>
          </a:p>
        </p:txBody>
      </p:sp>
      <p:sp>
        <p:nvSpPr>
          <p:cNvPr id="15" name="Daftar poin"/>
          <p:cNvSpPr txBox="1"/>
          <p:nvPr/>
        </p:nvSpPr>
        <p:spPr>
          <a:xfrm>
            <a:off x="548640" y="4023360"/>
            <a:ext cx="11091672" cy="2286000"/>
          </a:xfrm>
          <a:prstGeom prst="rect">
            <a:avLst/>
          </a:prstGeom>
          <a:noFill/>
          <a:ln/>
        </p:spPr>
        <p:txBody>
          <a:bodyPr wrap="square" lIns="0" tIns="0" rIns="0" bIns="0" rtlCol="0" anchor="t"/>
          <a:lstStyle/>
          <a:p>
            <a:pPr marL="342900" indent="-342900">
              <a:spcAft>
                <a:spcPts val="1000"/>
              </a:spcAft>
              <a:buSzPct val="100000"/>
              <a:buChar char="•"/>
            </a:pPr>
            <a:r>
              <a:rPr lang="en-US" sz="1600" b="1" dirty="0">
                <a:solidFill>
                  <a:srgbClr val="1B2A24"/>
                </a:solidFill>
              </a:rPr>
              <a:t>Server: </a:t>
            </a:r>
            <a:pPr indent="0" marL="0">
              <a:buNone/>
            </a:pPr>
            <a:r>
              <a:rPr lang="en-US" sz="1600" dirty="0">
                <a:solidFill>
                  <a:srgbClr val="1B2A24"/>
                </a:solidFill>
              </a:rPr>
              <a:t>satu laptop atau PC Windows dengan Laragon (Apache + PHP) dan basis data SQLite. Tanpa internet untuk pemakaian harian.</a:t>
            </a:r>
            <a:endParaRPr lang="en-US" sz="1600" dirty="0"/>
          </a:p>
          <a:p>
            <a:pPr marL="342900" indent="-342900">
              <a:spcAft>
                <a:spcPts val="1000"/>
              </a:spcAft>
              <a:buSzPct val="100000"/>
              <a:buChar char="•"/>
            </a:pPr>
            <a:r>
              <a:rPr lang="en-US" sz="1600" b="1" dirty="0">
                <a:solidFill>
                  <a:srgbClr val="1B2A24"/>
                </a:solidFill>
              </a:rPr>
              <a:t>Jadwal otomatis: </a:t>
            </a:r>
            <a:pPr indent="0" marL="0">
              <a:buNone/>
            </a:pPr>
            <a:r>
              <a:rPr lang="en-US" sz="1600" dirty="0">
                <a:solidFill>
                  <a:srgbClr val="1B2A24"/>
                </a:solidFill>
              </a:rPr>
              <a:t>backup harian 16.30 ke HDD (30 terakhir); email antre tiap menit; Google Drive Jumat 17.30 bila tersedia.</a:t>
            </a:r>
            <a:endParaRPr lang="en-US" sz="1600" dirty="0"/>
          </a:p>
          <a:p>
            <a:pPr marL="342900" indent="-342900">
              <a:spcAft>
                <a:spcPts val="1000"/>
              </a:spcAft>
              <a:buSzPct val="100000"/>
              <a:buChar char="•"/>
            </a:pPr>
            <a:r>
              <a:rPr lang="en-US" sz="1600" b="1" dirty="0">
                <a:solidFill>
                  <a:srgbClr val="1B2A24"/>
                </a:solidFill>
              </a:rPr>
              <a:t>Backup terenkripsi: </a:t>
            </a:r>
            <a:pPr indent="0" marL="0">
              <a:buNone/>
            </a:pPr>
            <a:r>
              <a:rPr lang="en-US" sz="1600" dirty="0">
                <a:solidFill>
                  <a:srgbClr val="1B2A24"/>
                </a:solidFill>
              </a:rPr>
              <a:t>ZIP AES-256 berisi basis data, berkas, kunci tanda tangan, dan pengaturan. Pengingat uji pemulihan tiap 30 hari.</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Judul"/>
          <p:cNvSpPr txBox="1"/>
          <p:nvPr/>
        </p:nvSpPr>
        <p:spPr>
          <a:xfrm>
            <a:off x="548640" y="365760"/>
            <a:ext cx="11091672" cy="822960"/>
          </a:xfrm>
          <a:prstGeom prst="rect">
            <a:avLst/>
          </a:prstGeom>
          <a:noFill/>
          <a:ln/>
        </p:spPr>
        <p:txBody>
          <a:bodyPr wrap="square" lIns="0" tIns="0" rIns="0" bIns="0" rtlCol="0" anchor="ctr"/>
          <a:lstStyle/>
          <a:p>
            <a:pPr indent="0" marL="0">
              <a:buNone/>
            </a:pPr>
            <a:r>
              <a:rPr lang="en-US" sz="3400" b="1" dirty="0">
                <a:solidFill>
                  <a:srgbClr val="004D2C"/>
                </a:solidFill>
                <a:latin typeface="Cambria" pitchFamily="34" charset="0"/>
                <a:ea typeface="Cambria" pitchFamily="34" charset="-122"/>
                <a:cs typeface="Cambria" pitchFamily="34" charset="-120"/>
              </a:rPr>
              <a:t>Status dan langkah berikutnya</a:t>
            </a:r>
            <a:endParaRPr lang="en-US" sz="3400" dirty="0"/>
          </a:p>
        </p:txBody>
      </p:sp>
      <p:sp>
        <p:nvSpPr>
          <p:cNvPr id="3" name="Kartu"/>
          <p:cNvSpPr/>
          <p:nvPr/>
        </p:nvSpPr>
        <p:spPr>
          <a:xfrm>
            <a:off x="548640" y="1463040"/>
            <a:ext cx="3453384" cy="4480560"/>
          </a:xfrm>
          <a:prstGeom prst="roundRect">
            <a:avLst>
              <a:gd name="adj" fmla="val 3177"/>
            </a:avLst>
          </a:prstGeom>
          <a:solidFill>
            <a:srgbClr val="EEF5F0"/>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68680" y="1645920"/>
            <a:ext cx="2813304" cy="502920"/>
          </a:xfrm>
          <a:prstGeom prst="rect">
            <a:avLst/>
          </a:prstGeom>
          <a:noFill/>
          <a:ln/>
        </p:spPr>
        <p:txBody>
          <a:bodyPr wrap="square" lIns="0" tIns="0" rIns="0" bIns="0" rtlCol="0" anchor="ctr"/>
          <a:lstStyle/>
          <a:p>
            <a:pPr indent="0" marL="0">
              <a:buNone/>
            </a:pPr>
            <a:r>
              <a:rPr lang="en-US" sz="2000" b="1" dirty="0">
                <a:solidFill>
                  <a:srgbClr val="004D2C"/>
                </a:solidFill>
                <a:latin typeface="Cambria" pitchFamily="34" charset="0"/>
                <a:ea typeface="Cambria" pitchFamily="34" charset="-122"/>
                <a:cs typeface="Cambria" pitchFamily="34" charset="-120"/>
              </a:rPr>
              <a:t>Sudah berjalan</a:t>
            </a:r>
            <a:endParaRPr lang="en-US" sz="2000" dirty="0"/>
          </a:p>
        </p:txBody>
      </p:sp>
      <p:sp>
        <p:nvSpPr>
          <p:cNvPr id="5" name="Text 3"/>
          <p:cNvSpPr txBox="1"/>
          <p:nvPr/>
        </p:nvSpPr>
        <p:spPr>
          <a:xfrm>
            <a:off x="868680" y="2286000"/>
            <a:ext cx="281330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24"/>
                </a:solidFill>
              </a:rPr>
              <a:t>e-Layanan mahasiswa</a:t>
            </a:r>
            <a:endParaRPr lang="en-US" sz="1500" dirty="0"/>
          </a:p>
          <a:p>
            <a:pPr marL="342900" indent="-342900">
              <a:spcAft>
                <a:spcPts val="800"/>
              </a:spcAft>
              <a:buSzPct val="100000"/>
              <a:buChar char="•"/>
            </a:pPr>
            <a:r>
              <a:rPr lang="en-US" sz="1500" dirty="0">
                <a:solidFill>
                  <a:srgbClr val="1B2A24"/>
                </a:solidFill>
              </a:rPr>
              <a:t>Surat keluar ber-QR dan tanpa QR</a:t>
            </a:r>
            <a:endParaRPr lang="en-US" sz="1500" dirty="0"/>
          </a:p>
          <a:p>
            <a:pPr marL="342900" indent="-342900">
              <a:spcAft>
                <a:spcPts val="800"/>
              </a:spcAft>
              <a:buSzPct val="100000"/>
              <a:buChar char="•"/>
            </a:pPr>
            <a:r>
              <a:rPr lang="en-US" sz="1500" dirty="0">
                <a:solidFill>
                  <a:srgbClr val="1B2A24"/>
                </a:solidFill>
              </a:rPr>
              <a:t>Surat masuk dan Pembukuan</a:t>
            </a:r>
            <a:endParaRPr lang="en-US" sz="1500" dirty="0"/>
          </a:p>
          <a:p>
            <a:pPr marL="342900" indent="-342900">
              <a:spcAft>
                <a:spcPts val="800"/>
              </a:spcAft>
              <a:buSzPct val="100000"/>
              <a:buChar char="•"/>
            </a:pPr>
            <a:r>
              <a:rPr lang="en-US" sz="1500" dirty="0">
                <a:solidFill>
                  <a:srgbClr val="1B2A24"/>
                </a:solidFill>
              </a:rPr>
              <a:t>Format Surat dan Master Data</a:t>
            </a:r>
            <a:endParaRPr lang="en-US" sz="1500" dirty="0"/>
          </a:p>
          <a:p>
            <a:pPr marL="342900" indent="-342900">
              <a:spcAft>
                <a:spcPts val="800"/>
              </a:spcAft>
              <a:buSzPct val="100000"/>
              <a:buChar char="•"/>
            </a:pPr>
            <a:r>
              <a:rPr lang="en-US" sz="1500" dirty="0">
                <a:solidFill>
                  <a:srgbClr val="1B2A24"/>
                </a:solidFill>
              </a:rPr>
              <a:t>Penomoran sesuai pedoman</a:t>
            </a:r>
            <a:endParaRPr lang="en-US" sz="1500" dirty="0"/>
          </a:p>
          <a:p>
            <a:pPr marL="342900" indent="-342900">
              <a:spcAft>
                <a:spcPts val="800"/>
              </a:spcAft>
              <a:buSzPct val="100000"/>
              <a:buChar char="•"/>
            </a:pPr>
            <a:r>
              <a:rPr lang="en-US" sz="1500" dirty="0">
                <a:solidFill>
                  <a:srgbClr val="1B2A24"/>
                </a:solidFill>
              </a:rPr>
              <a:t>Verifikasi QR, notifikasi, log, backup</a:t>
            </a:r>
            <a:endParaRPr lang="en-US" sz="1500" dirty="0"/>
          </a:p>
        </p:txBody>
      </p:sp>
      <p:sp>
        <p:nvSpPr>
          <p:cNvPr id="6" name="Kartu"/>
          <p:cNvSpPr/>
          <p:nvPr/>
        </p:nvSpPr>
        <p:spPr>
          <a:xfrm>
            <a:off x="4367784" y="1463040"/>
            <a:ext cx="3453384" cy="4480560"/>
          </a:xfrm>
          <a:prstGeom prst="roundRect">
            <a:avLst>
              <a:gd name="adj" fmla="val 3177"/>
            </a:avLst>
          </a:prstGeom>
          <a:solidFill>
            <a:srgbClr val="FFF8E1"/>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687824" y="1645920"/>
            <a:ext cx="2813304" cy="502920"/>
          </a:xfrm>
          <a:prstGeom prst="rect">
            <a:avLst/>
          </a:prstGeom>
          <a:noFill/>
          <a:ln/>
        </p:spPr>
        <p:txBody>
          <a:bodyPr wrap="square" lIns="0" tIns="0" rIns="0" bIns="0" rtlCol="0" anchor="ctr"/>
          <a:lstStyle/>
          <a:p>
            <a:pPr indent="0" marL="0">
              <a:buNone/>
            </a:pPr>
            <a:r>
              <a:rPr lang="en-US" sz="2000" b="1" dirty="0">
                <a:solidFill>
                  <a:srgbClr val="8A5A00"/>
                </a:solidFill>
                <a:latin typeface="Cambria" pitchFamily="34" charset="0"/>
                <a:ea typeface="Cambria" pitchFamily="34" charset="-122"/>
                <a:cs typeface="Cambria" pitchFamily="34" charset="-120"/>
              </a:rPr>
              <a:t>Belum aktif</a:t>
            </a:r>
            <a:endParaRPr lang="en-US" sz="2000" dirty="0"/>
          </a:p>
        </p:txBody>
      </p:sp>
      <p:sp>
        <p:nvSpPr>
          <p:cNvPr id="8" name="Text 6"/>
          <p:cNvSpPr txBox="1"/>
          <p:nvPr/>
        </p:nvSpPr>
        <p:spPr>
          <a:xfrm>
            <a:off x="4687824" y="2286000"/>
            <a:ext cx="281330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24"/>
                </a:solidFill>
              </a:rPr>
              <a:t>Disposisi surat masuk</a:t>
            </a:r>
            <a:endParaRPr lang="en-US" sz="1500" dirty="0"/>
          </a:p>
          <a:p>
            <a:pPr marL="342900" indent="-342900">
              <a:spcAft>
                <a:spcPts val="800"/>
              </a:spcAft>
              <a:buSzPct val="100000"/>
              <a:buChar char="•"/>
            </a:pPr>
            <a:r>
              <a:rPr lang="en-US" sz="1500" dirty="0">
                <a:solidFill>
                  <a:srgbClr val="1B2A24"/>
                </a:solidFill>
              </a:rPr>
              <a:t>Arsip digital</a:t>
            </a:r>
            <a:endParaRPr lang="en-US" sz="1500" dirty="0"/>
          </a:p>
          <a:p>
            <a:pPr marL="342900" indent="-342900">
              <a:spcAft>
                <a:spcPts val="800"/>
              </a:spcAft>
              <a:buSzPct val="100000"/>
              <a:buChar char="•"/>
            </a:pPr>
            <a:r>
              <a:rPr lang="en-US" sz="1500" dirty="0">
                <a:solidFill>
                  <a:srgbClr val="1B2A24"/>
                </a:solidFill>
              </a:rPr>
              <a:t>Laporan</a:t>
            </a:r>
            <a:endParaRPr lang="en-US" sz="1500" dirty="0"/>
          </a:p>
        </p:txBody>
      </p:sp>
      <p:sp>
        <p:nvSpPr>
          <p:cNvPr id="9" name="Kartu"/>
          <p:cNvSpPr/>
          <p:nvPr/>
        </p:nvSpPr>
        <p:spPr>
          <a:xfrm>
            <a:off x="8186928" y="1463040"/>
            <a:ext cx="3453384" cy="4480560"/>
          </a:xfrm>
          <a:prstGeom prst="roundRect">
            <a:avLst>
              <a:gd name="adj" fmla="val 3177"/>
            </a:avLst>
          </a:prstGeom>
          <a:solidFill>
            <a:srgbClr val="EAF2FA"/>
          </a:solidFill>
          <a:ln w="9525">
            <a:solidFill>
              <a:srgbClr val="D5E3DA"/>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506968" y="1645920"/>
            <a:ext cx="2813304" cy="502920"/>
          </a:xfrm>
          <a:prstGeom prst="rect">
            <a:avLst/>
          </a:prstGeom>
          <a:noFill/>
          <a:ln/>
        </p:spPr>
        <p:txBody>
          <a:bodyPr wrap="square" lIns="0" tIns="0" rIns="0" bIns="0" rtlCol="0" anchor="ctr"/>
          <a:lstStyle/>
          <a:p>
            <a:pPr indent="0" marL="0">
              <a:buNone/>
            </a:pPr>
            <a:r>
              <a:rPr lang="en-US" sz="2000" b="1" dirty="0">
                <a:solidFill>
                  <a:srgbClr val="1F4E79"/>
                </a:solidFill>
                <a:latin typeface="Cambria" pitchFamily="34" charset="0"/>
                <a:ea typeface="Cambria" pitchFamily="34" charset="-122"/>
                <a:cs typeface="Cambria" pitchFamily="34" charset="-120"/>
              </a:rPr>
              <a:t>Sebelum dipakai</a:t>
            </a:r>
            <a:endParaRPr lang="en-US" sz="2000" dirty="0"/>
          </a:p>
        </p:txBody>
      </p:sp>
      <p:sp>
        <p:nvSpPr>
          <p:cNvPr id="11" name="Text 9"/>
          <p:cNvSpPr txBox="1"/>
          <p:nvPr/>
        </p:nvSpPr>
        <p:spPr>
          <a:xfrm>
            <a:off x="8506968" y="2286000"/>
            <a:ext cx="2813304"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B2A24"/>
                </a:solidFill>
              </a:rPr>
              <a:t>Ganti semua sandi akun contoh</a:t>
            </a:r>
            <a:endParaRPr lang="en-US" sz="1500" dirty="0"/>
          </a:p>
          <a:p>
            <a:pPr marL="342900" indent="-342900">
              <a:spcAft>
                <a:spcPts val="800"/>
              </a:spcAft>
              <a:buSzPct val="100000"/>
              <a:buChar char="•"/>
            </a:pPr>
            <a:r>
              <a:rPr lang="en-US" sz="1500" dirty="0">
                <a:solidFill>
                  <a:srgbClr val="1B2A24"/>
                </a:solidFill>
              </a:rPr>
              <a:t>Isi pejabat, prodi, klasifikasi asli</a:t>
            </a:r>
            <a:endParaRPr lang="en-US" sz="1500" dirty="0"/>
          </a:p>
          <a:p>
            <a:pPr marL="342900" indent="-342900">
              <a:spcAft>
                <a:spcPts val="800"/>
              </a:spcAft>
              <a:buSzPct val="100000"/>
              <a:buChar char="•"/>
            </a:pPr>
            <a:r>
              <a:rPr lang="en-US" sz="1500" dirty="0">
                <a:solidFill>
                  <a:srgbClr val="1B2A24"/>
                </a:solidFill>
              </a:rPr>
              <a:t>Unggah spesimen tanda tangan dan stempel</a:t>
            </a:r>
            <a:endParaRPr lang="en-US" sz="1500" dirty="0"/>
          </a:p>
          <a:p>
            <a:pPr marL="342900" indent="-342900">
              <a:spcAft>
                <a:spcPts val="800"/>
              </a:spcAft>
              <a:buSzPct val="100000"/>
              <a:buChar char="•"/>
            </a:pPr>
            <a:r>
              <a:rPr lang="en-US" sz="1500" dirty="0">
                <a:solidFill>
                  <a:srgbClr val="1B2A24"/>
                </a:solidFill>
              </a:rPr>
              <a:t>Pilih alamat server yang stabil</a:t>
            </a:r>
            <a:endParaRPr lang="en-US" sz="1500" dirty="0"/>
          </a:p>
          <a:p>
            <a:pPr marL="342900" indent="-342900">
              <a:spcAft>
                <a:spcPts val="800"/>
              </a:spcAft>
              <a:buSzPct val="100000"/>
              <a:buChar char="•"/>
            </a:pPr>
            <a:r>
              <a:rPr lang="en-US" sz="1500" dirty="0">
                <a:solidFill>
                  <a:srgbClr val="1B2A24"/>
                </a:solidFill>
              </a:rPr>
              <a:t>Simpan salinan kunci di tempat aman</a:t>
            </a:r>
            <a:endParaRPr lang="en-US" sz="1500" dirty="0"/>
          </a:p>
          <a:p>
            <a:pPr marL="342900" indent="-342900">
              <a:spcAft>
                <a:spcPts val="800"/>
              </a:spcAft>
              <a:buSzPct val="100000"/>
              <a:buChar char="•"/>
            </a:pPr>
            <a:r>
              <a:rPr lang="en-US" sz="1500" dirty="0">
                <a:solidFill>
                  <a:srgbClr val="1B2A24"/>
                </a:solidFill>
              </a:rPr>
              <a:t>Satu kali backup dan uji pemulihan</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5645D"/>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Judul"/>
          <p:cNvSpPr txBox="1"/>
          <p:nvPr/>
        </p:nvSpPr>
        <p:spPr>
          <a:xfrm>
            <a:off x="548640" y="137160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Demo dan tanya jawab</a:t>
            </a:r>
            <a:endParaRPr lang="en-US" sz="4800" dirty="0"/>
          </a:p>
        </p:txBody>
      </p:sp>
      <p:sp>
        <p:nvSpPr>
          <p:cNvPr id="3" name="Text 1"/>
          <p:cNvSpPr txBox="1"/>
          <p:nvPr/>
        </p:nvSpPr>
        <p:spPr>
          <a:xfrm>
            <a:off x="548640" y="2468880"/>
            <a:ext cx="9144000" cy="457200"/>
          </a:xfrm>
          <a:prstGeom prst="rect">
            <a:avLst/>
          </a:prstGeom>
          <a:noFill/>
          <a:ln/>
        </p:spPr>
        <p:txBody>
          <a:bodyPr wrap="square" lIns="0" tIns="0" rIns="0" bIns="0" rtlCol="0" anchor="ctr"/>
          <a:lstStyle/>
          <a:p>
            <a:pPr indent="0" marL="0">
              <a:buNone/>
            </a:pPr>
            <a:r>
              <a:rPr lang="en-US" sz="2000" dirty="0">
                <a:solidFill>
                  <a:srgbClr val="FDB913"/>
                </a:solidFill>
              </a:rPr>
              <a:t>Dokumen pendukung di folder documentation/</a:t>
            </a:r>
            <a:endParaRPr lang="en-US" sz="2000" dirty="0"/>
          </a:p>
        </p:txBody>
      </p:sp>
      <p:sp>
        <p:nvSpPr>
          <p:cNvPr id="4" name="Text 2"/>
          <p:cNvSpPr txBox="1"/>
          <p:nvPr/>
        </p:nvSpPr>
        <p:spPr>
          <a:xfrm>
            <a:off x="548640" y="3200400"/>
            <a:ext cx="10058400" cy="365760"/>
          </a:xfrm>
          <a:prstGeom prst="rect">
            <a:avLst/>
          </a:prstGeom>
          <a:noFill/>
          <a:ln/>
        </p:spPr>
        <p:txBody>
          <a:bodyPr wrap="square" lIns="0" tIns="0" rIns="0" bIns="0" rtlCol="0" anchor="ctr"/>
          <a:lstStyle/>
          <a:p>
            <a:pPr indent="0" marL="0">
              <a:buNone/>
            </a:pPr>
            <a:r>
              <a:rPr lang="en-US" sz="1700" b="1" dirty="0">
                <a:solidFill>
                  <a:srgbClr val="FFFFFF"/>
                </a:solidFill>
              </a:rPr>
              <a:t>panduan-pengguna.md</a:t>
            </a:r>
            <a:pPr indent="0" marL="0">
              <a:buNone/>
            </a:pPr>
            <a:r>
              <a:rPr lang="en-US" sz="1700" dirty="0">
                <a:solidFill>
                  <a:srgbClr val="CFE3D7"/>
                </a:solidFill>
              </a:rPr>
              <a:t>   langkah demi langkah per peran</a:t>
            </a:r>
            <a:endParaRPr lang="en-US" sz="1700" dirty="0"/>
          </a:p>
        </p:txBody>
      </p:sp>
      <p:sp>
        <p:nvSpPr>
          <p:cNvPr id="5" name="Text 3"/>
          <p:cNvSpPr txBox="1"/>
          <p:nvPr/>
        </p:nvSpPr>
        <p:spPr>
          <a:xfrm>
            <a:off x="548640" y="3657600"/>
            <a:ext cx="10058400" cy="365760"/>
          </a:xfrm>
          <a:prstGeom prst="rect">
            <a:avLst/>
          </a:prstGeom>
          <a:noFill/>
          <a:ln/>
        </p:spPr>
        <p:txBody>
          <a:bodyPr wrap="square" lIns="0" tIns="0" rIns="0" bIns="0" rtlCol="0" anchor="ctr"/>
          <a:lstStyle/>
          <a:p>
            <a:pPr indent="0" marL="0">
              <a:buNone/>
            </a:pPr>
            <a:r>
              <a:rPr lang="en-US" sz="1700" b="1" dirty="0">
                <a:solidFill>
                  <a:srgbClr val="FFFFFF"/>
                </a:solidFill>
              </a:rPr>
              <a:t>dokumentasi-sistem.md</a:t>
            </a:r>
            <a:pPr indent="0" marL="0">
              <a:buNone/>
            </a:pPr>
            <a:r>
              <a:rPr lang="en-US" sz="1700" dirty="0">
                <a:solidFill>
                  <a:srgbClr val="CFE3D7"/>
                </a:solidFill>
              </a:rPr>
              <a:t>   gambaran sistem, alur, keamanan, operasional</a:t>
            </a:r>
            <a:endParaRPr lang="en-US" sz="1700" dirty="0"/>
          </a:p>
        </p:txBody>
      </p:sp>
      <p:sp>
        <p:nvSpPr>
          <p:cNvPr id="6" name="Text 4"/>
          <p:cNvSpPr txBox="1"/>
          <p:nvPr/>
        </p:nvSpPr>
        <p:spPr>
          <a:xfrm>
            <a:off x="548640" y="4114800"/>
            <a:ext cx="10058400" cy="365760"/>
          </a:xfrm>
          <a:prstGeom prst="rect">
            <a:avLst/>
          </a:prstGeom>
          <a:noFill/>
          <a:ln/>
        </p:spPr>
        <p:txBody>
          <a:bodyPr wrap="square" lIns="0" tIns="0" rIns="0" bIns="0" rtlCol="0" anchor="ctr"/>
          <a:lstStyle/>
          <a:p>
            <a:pPr indent="0" marL="0">
              <a:buNone/>
            </a:pPr>
            <a:r>
              <a:rPr lang="en-US" sz="1700" b="1" dirty="0">
                <a:solidFill>
                  <a:srgbClr val="FFFFFF"/>
                </a:solidFill>
              </a:rPr>
              <a:t>cara-kerja-tanda-tangan-elektronik.md</a:t>
            </a:r>
            <a:pPr indent="0" marL="0">
              <a:buNone/>
            </a:pPr>
            <a:r>
              <a:rPr lang="en-US" sz="1700" dirty="0">
                <a:solidFill>
                  <a:srgbClr val="CFE3D7"/>
                </a:solidFill>
              </a:rPr>
              <a:t>   kunci, QR, dan verifikasi</a:t>
            </a:r>
            <a:endParaRPr lang="en-US" sz="1700" dirty="0"/>
          </a:p>
        </p:txBody>
      </p:sp>
      <p:sp>
        <p:nvSpPr>
          <p:cNvPr id="7" name="Text 5"/>
          <p:cNvSpPr txBox="1"/>
          <p:nvPr/>
        </p:nvSpPr>
        <p:spPr>
          <a:xfrm>
            <a:off x="548640" y="4572000"/>
            <a:ext cx="10058400" cy="365760"/>
          </a:xfrm>
          <a:prstGeom prst="rect">
            <a:avLst/>
          </a:prstGeom>
          <a:noFill/>
          <a:ln/>
        </p:spPr>
        <p:txBody>
          <a:bodyPr wrap="square" lIns="0" tIns="0" rIns="0" bIns="0" rtlCol="0" anchor="ctr"/>
          <a:lstStyle/>
          <a:p>
            <a:pPr indent="0" marL="0">
              <a:buNone/>
            </a:pPr>
            <a:r>
              <a:rPr lang="en-US" sz="1700" b="1" dirty="0">
                <a:solidFill>
                  <a:srgbClr val="FFFFFF"/>
                </a:solidFill>
              </a:rPr>
              <a:t>contoh-surat/</a:t>
            </a:r>
            <a:pPr indent="0" marL="0">
              <a:buNone/>
            </a:pPr>
            <a:r>
              <a:rPr lang="en-US" sz="1700" dirty="0">
                <a:solidFill>
                  <a:srgbClr val="CFE3D7"/>
                </a:solidFill>
              </a:rPr>
              <a:t>   15 pasang contoh PDF</a:t>
            </a:r>
            <a:endParaRPr lang="en-US" sz="1700" dirty="0"/>
          </a:p>
        </p:txBody>
      </p:sp>
      <p:sp>
        <p:nvSpPr>
          <p:cNvPr id="8" name="Text 6"/>
          <p:cNvSpPr txBox="1"/>
          <p:nvPr/>
        </p:nvSpPr>
        <p:spPr>
          <a:xfrm>
            <a:off x="548640" y="5029200"/>
            <a:ext cx="10058400" cy="365760"/>
          </a:xfrm>
          <a:prstGeom prst="rect">
            <a:avLst/>
          </a:prstGeom>
          <a:noFill/>
          <a:ln/>
        </p:spPr>
        <p:txBody>
          <a:bodyPr wrap="square" lIns="0" tIns="0" rIns="0" bIns="0" rtlCol="0" anchor="ctr"/>
          <a:lstStyle/>
          <a:p>
            <a:pPr indent="0" marL="0">
              <a:buNone/>
            </a:pPr>
            <a:r>
              <a:rPr lang="en-US" sz="1700" b="1" dirty="0">
                <a:solidFill>
                  <a:srgbClr val="FFFFFF"/>
                </a:solidFill>
              </a:rPr>
              <a:t>../INSTALL.md</a:t>
            </a:r>
            <a:pPr indent="0" marL="0">
              <a:buNone/>
            </a:pPr>
            <a:r>
              <a:rPr lang="en-US" sz="1700" dirty="0">
                <a:solidFill>
                  <a:srgbClr val="CFE3D7"/>
                </a:solidFill>
              </a:rPr>
              <a:t>   pemasangan di Windows</a:t>
            </a:r>
            <a:endParaRPr lang="en-US" sz="1700" dirty="0"/>
          </a:p>
        </p:txBody>
      </p:sp>
    </p:spTree>
  </p:cSld>
  <p:clrMapOvr>
    <a:masterClrMapping/>
  </p:clrMapOvr>
</p:sld>
</file>

<file path=ppt/theme/theme1.xml><?xml version="1.0" encoding="utf-8"?>
<a:theme xmlns:a="http://schemas.openxmlformats.org/drawingml/2006/main" name="SIPERSU FT-UMB">
  <a:themeElements>
    <a:clrScheme name="SIPERSU FT-UMB">
      <a:dk1>
        <a:srgbClr val="1B2A24"/>
      </a:dk1>
      <a:lt1>
        <a:srgbClr val="FFFFFF"/>
      </a:lt1>
      <a:dk2>
        <a:srgbClr val="004D2C"/>
      </a:dk2>
      <a:lt2>
        <a:srgbClr val="EEF5F0"/>
      </a:lt2>
      <a:accent1>
        <a:srgbClr val="006B3C"/>
      </a:accent1>
      <a:accent2>
        <a:srgbClr val="FDB913"/>
      </a:accent2>
      <a:accent3>
        <a:srgbClr val="2F6F9F"/>
      </a:accent3>
      <a:accent4>
        <a:srgbClr val="7A4EAB"/>
      </a:accent4>
      <a:accent5>
        <a:srgbClr val="C2410C"/>
      </a:accent5>
      <a:accent6>
        <a:srgbClr val="55645D"/>
      </a:accent6>
      <a:hlink>
        <a:srgbClr val="006B3C"/>
      </a:hlink>
      <a:folHlink>
        <a:srgbClr val="55645D"/>
      </a:folHlink>
    </a:clrScheme>
    <a:fontScheme name="SIPERSU FT-UM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SIPERSU FT-UMB: Bahan Presentasi</dc:title>
  <dc:subject>PptxGenJS Presentation</dc:subject>
  <dc:creator>Fakultas Teknik UM Buton</dc:creator>
  <cp:lastModifiedBy>Fakultas Teknik UM Buton</cp:lastModifiedBy>
  <cp:revision>1</cp:revision>
  <dcterms:created xsi:type="dcterms:W3CDTF">2026-10-28T09:35:41Z</dcterms:created>
  <dcterms:modified xsi:type="dcterms:W3CDTF">2026-10-28T09:35:41Z</dcterms:modified>
</cp:coreProperties>
</file>